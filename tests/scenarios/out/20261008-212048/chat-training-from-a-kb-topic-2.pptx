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focar-nos em desmistificar o Crédito Habitação Jovem. Ao final, vocês deverão ser capazes de explicar o que é este regime especial. Vamos aprender os critérios de elegibilidade e como funciona o processo de avaliação. Também abordaremos os benefícios fiscais importantes.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o Crédito Habitação Jovem. Este é um regime especial desenhado especificamente para apoiar jovens no acesso à habitação. É importante conhecer a sua base legal e o seu objetivo principal.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CH Jovem é um instrumento legal específico, criado pelo DL n.º 44/2024. A sua grande vantagem é permitir o financiamento de até 100% do valor do imóvel, o que elimina a necessidade de entrada. O Estado Português entra como fiador para garantir esta cobertura.</a:t>
            </a:r>
          </a:p>
          <a:p/>
          <a:p>
            <a:r>
              <a:t>Fonte: 11 - Crédito Habitação Jovem &gt;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mergulhar nos critérios de elegibilidade. É crucial entender quem se qualifica para este apoio. Vamos rever as condições de idade, residência e rendimentos que devem ser cumpridas.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idade entre 18 e 35 anos, e domicílio fiscal em Portugal. Além disso, há restrições financeiras, como não possuir bens anteriores e o valor do imóvel não pode exceder €450.000. É vital cumprir todos estes pontos.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relação aos rendimentos, o limite individual é de €80.000, mas pode ser maior para casais. A garantia do Estado cobre uma percentagem específica, não excedendo 15% do valor. O Banco CTT já faz parte deste protocolo desde outubro de 2024.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foca-se nos benefícios diretos que o regime oferece, como as isenções fiscais, e nos passos práticos para que o processo corra bem. Vamos ver o que é vantajoso para o mutuário.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notável é a isenção de IMT e Imposto do Selo para imóveis até €330.539. Para quem é estrangeiro, há requisitos adicionais, como um título de residência temporário válido há pelo menos três anos.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&gt;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não é imediato; ele passa por fases de avaliação. Vamos detalhar estas fases e quais os documentos que precisam de ser preparados em cada etapa para garantir um processo suave.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tem duas etapas distintas: a avaliação de risco e o enquadramento da proposta. É importante notar que a recusa só ocorre após a submissão ao risco. A documentação varia consoante a fase, sendo o formulário de adesão e o IRS essenciais para a criação inicial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máxima é de 35 anos. O Estado atua como fiador, cobrindo a diferença entre o LTV usual e 100%. As cartas de recusa são emitidas apenas para propostas submetidas ao risco.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CH Jovem é uma ferramenta poderosa para jovens. Permite financiamento total com a garantia do Estado. Lembrem-se dos critérios de elegibilidade, que são estritos. E, claro, aproveitem os benefícios fiscais quando aplicável. Este regime visa facilitar o acesso à habitação para a juventude.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Jovem: Um Regime Especial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 (CH Jovem).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este regime.</a:t>
            </a:r>
          </a:p>
          <a:p>
            <a:pPr marL="285750" indent="-285750">
              <a:buFont typeface="Arial"/>
              <a:buChar char="•"/>
            </a:pPr>
            <a:r>
              <a:t>Conhecer os procedimentos para a avaliação da elegibilidade.</a:t>
            </a:r>
          </a:p>
          <a:p>
            <a:pPr marL="285750" indent="-285750">
              <a:buFont typeface="Arial"/>
              <a:buChar char="•"/>
            </a:pPr>
            <a:r>
              <a:t>Saber sobre os benefícios fiscais associados ao CH Jovem.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a natureza e o propósito do CH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idade de até 35 anos.</a:t>
            </a:r>
          </a:p>
          <a:p>
            <a:pPr marL="285750" indent="-285750">
              <a:buFont typeface="Arial"/>
              <a:buChar char="•"/>
            </a:pPr>
            <a:r>
              <a:t>Foi estabelecido pelo DL n.º 44/2024, datado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compra do imóvel.</a:t>
            </a:r>
          </a:p>
          <a:p>
            <a:pPr marL="285750" indent="-285750">
              <a:buFont typeface="Arial"/>
              <a:buChar char="•"/>
            </a:pPr>
            <a:r>
              <a:t>Elimina a necessidade de os mutuários terem capitais próprios para a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 do empréstimo.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aceder ao regime CH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Requisitos Pessoais</a:t>
            </a:r>
          </a:p>
          <a:p>
            <a:r>
              <a:t>Idade entre 18 e 35 anos</a:t>
            </a:r>
          </a:p>
          <a:p>
            <a:r>
              <a:t>Domicílio fiscal em Portugal</a:t>
            </a:r>
          </a:p>
          <a:p>
            <a:r>
              <a:t>Não possuir propriedade anterior</a:t>
            </a:r>
          </a:p>
          <a:p>
            <a:r>
              <a:t>Não ter usado esta garantia do Estado previamente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Requisitos Financeiros e Transação</a:t>
            </a:r>
          </a:p>
          <a:p>
            <a:r>
              <a:t>Rendimentos inferiores ao 8.º escalão do IRS</a:t>
            </a:r>
          </a:p>
          <a:p>
            <a:r>
              <a:t>Valor da transação não ultrapassar €450.000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Limites de Rendimento: Mutuário individual: até €80.000 (8.º escalão IRS)</a:t>
            </a:r>
            <a:br/>
            <a:r>
              <a:t>Dois mutuários: até €160.000 (quociente familiar)</a:t>
            </a:r>
          </a:p>
          <a:p>
            <a:r>
              <a:t>Garantia e Financiamento: Garantia do Estado: não excede 15% do valor da transação</a:t>
            </a:r>
            <a:br/>
            <a:r>
              <a:t>Financiamento: até 100% ou mínimo de 85% do valor</a:t>
            </a:r>
          </a:p>
          <a:p>
            <a:r>
              <a:t>Adesão Bancária: Banco CTT aderiu ao protocolo em 2 de outubro de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e os passos operacionais do regime.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Isenções Fiscais e Condições Específicas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Mutuários são isentos de IMT e Imposto do Selo.</a:t>
            </a:r>
          </a:p>
          <a:p>
            <a:pPr marL="285750" indent="-285750">
              <a:buFont typeface="Arial"/>
              <a:buChar char="•"/>
            </a:pPr>
            <a:r>
              <a:t>Esta isenção aplica-se a primeiras habitações permanentes até €330.539.</a:t>
            </a:r>
          </a:p>
          <a:p>
            <a:pPr marL="285750" indent="-285750">
              <a:buFont typeface="Arial"/>
              <a:buChar char="•"/>
            </a:pPr>
            <a:r>
              <a:t>Para clientes estrangeiros, é necessário título de residência temporária.</a:t>
            </a:r>
          </a:p>
          <a:p>
            <a:pPr marL="285750" indent="-285750">
              <a:buFont typeface="Arial"/>
              <a:buChar char="•"/>
            </a:pPr>
            <a:r>
              <a:t>Este título deve ter sido emitido há pelo menos 3 anos.</a:t>
            </a:r>
          </a:p>
          <a:p>
            <a:pPr marL="285750" indent="-285750">
              <a:buFont typeface="Arial"/>
              <a:buChar char="•"/>
            </a:pPr>
            <a:r>
              <a:t>O título deve estar válido na data da análise; renovações em curso não são aceites.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Avaliação da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e a documentação necessária para a candidatura.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e Documentação Necessária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1773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Avaliação de Risco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31773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 da Proposta</a:t>
            </a:r>
          </a:p>
        </p:txBody>
      </p:sp>
      <p:cxnSp>
        <p:nvCxnSpPr>
          <p:cNvPr id="6" name="Connector 6"/>
          <p:cNvCxnSpPr>
            <a:stCxn id="4" idx="3"/>
            <a:endCxn id="5" idx="1"/>
          </p:cNvCxnSpPr>
          <p:nvPr/>
        </p:nvCxnSpPr>
        <p:spPr>
          <a:xfrm>
            <a:off x="5059680" y="3863181"/>
            <a:ext cx="207264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idade para beneficiar do CH Jovem?</a:t>
            </a:r>
          </a:p>
          <a:p>
            <a:pPr marL="285750" indent="-285750">
              <a:buFont typeface="Arial"/>
              <a:buChar char="•"/>
            </a:pPr>
            <a:r>
              <a:t>Que tipo de garantia o Estado Português fornece neste regime?</a:t>
            </a:r>
          </a:p>
          <a:p>
            <a:pPr marL="285750" indent="-285750">
              <a:buFont typeface="Arial"/>
              <a:buChar char="•"/>
            </a:pPr>
            <a:r>
              <a:t>Em que fase do processo de elegibilidade são emitidas as cartas de recusa?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 do CH Jovem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Foco do CH Jovem</a:t>
            </a:r>
          </a:p>
          <a:p>
            <a:r>
              <a:t>Regime para jovens (até 35 anos)</a:t>
            </a:r>
          </a:p>
          <a:p>
            <a:r>
              <a:t>Financiamento até 100% do imóvel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Estrutura e Benefícios</a:t>
            </a:r>
          </a:p>
          <a:p>
            <a:r>
              <a:t>Garantia do Estado da diferença LTV padrão e 100%</a:t>
            </a:r>
          </a:p>
          <a:p>
            <a:r>
              <a:t>Critérios de elegibilidade rigorosos (rendimento/valor)</a:t>
            </a:r>
          </a:p>
          <a:p>
            <a:r>
              <a:t>Duas fases de avaliação</a:t>
            </a:r>
          </a:p>
          <a:p>
            <a:r>
              <a:t>Benefícios fiscais (isenção IMT/IS)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
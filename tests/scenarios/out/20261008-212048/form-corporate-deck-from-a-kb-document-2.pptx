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O grande benefício é que permite financiar até 100% do valor do imóvel, eliminando a necessidade de entrada inicial.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Estado Português assume o papel de fiador neste regime. Esta garantia é crucial, pois cobre a diferença entre o LTV padrão de 85% e o financiamento total de 100%.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para a elegibilidade, focados na idade e na situação fiscal do proponente. É importante notar que o limite de rendimentos é de 80.000 euros por mutuário individualmente.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regime impõe limites ao valor da transação e oferece benefícios fiscais significativos. A isenção de impostos aplica-se a aquisições até €330.539.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é estruturado em duas etapas distintas: a Proposta e o Enquadramento. É fundamental preparar a documentação correta para cada fase.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 operacionalização, o Banco CTT já aderiu ao protocolo. As operações seguem um quadrante de preços específico, e o regime está formalizado pelo Decreto-Lei.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Destinado a jovens até aos 35 anos.</a:t>
            </a:r>
          </a:p>
          <a:p>
            <a:pPr marL="285750" indent="-285750">
              <a:buFont typeface="Arial"/>
              <a:buChar char="•"/>
            </a:pPr>
            <a:r>
              <a:t>Criado pelo Decreto-Lei n.º 44/2024, de 10 de julho.</a:t>
            </a:r>
          </a:p>
          <a:p>
            <a:pPr marL="285750" indent="-285750">
              <a:buFont typeface="Arial"/>
              <a:buChar char="•"/>
            </a:pPr>
            <a:r>
              <a:t>Permite financiamento de até 100% do valor do imóvel.</a:t>
            </a:r>
          </a:p>
          <a:p>
            <a:pPr marL="285750" indent="-285750">
              <a:buFont typeface="Arial"/>
              <a:buChar char="•"/>
            </a:pPr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Estado atua como fiador do crédito.</a:t>
            </a:r>
          </a:p>
          <a:p>
            <a:pPr marL="285750" indent="-285750">
              <a:buFont typeface="Arial"/>
              <a:buChar char="•"/>
            </a:pPr>
            <a:r>
              <a:t>Cobre a diferença entre 85% e 100% do valor.</a:t>
            </a:r>
          </a:p>
          <a:p>
            <a:pPr marL="285750" indent="-285750">
              <a:buFont typeface="Arial"/>
              <a:buChar char="•"/>
            </a:pPr>
            <a:r>
              <a:t>A garantia do Estado não excede 15% do valor.</a:t>
            </a:r>
          </a:p>
          <a:p>
            <a:pPr marL="285750" indent="-285750">
              <a:buFont typeface="Arial"/>
              <a:buChar char="•"/>
            </a:pPr>
            <a:r>
              <a:t>Permite financiamento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Funciona a Garantia do Estado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Idade entre 18 e 35 anos.</a:t>
            </a:r>
          </a:p>
          <a:p>
            <a:pPr marL="285750" indent="-285750">
              <a:buFont typeface="Arial"/>
              <a:buChar char="•"/>
            </a:pPr>
            <a:r>
              <a:t>Ser residente fiscal em Portugal.</a:t>
            </a:r>
          </a:p>
          <a:p>
            <a:pPr marL="285750" indent="-285750">
              <a:buFont typeface="Arial"/>
              <a:buChar char="•"/>
            </a:pPr>
            <a:r>
              <a:t>Não possuir propriedade urbana.</a:t>
            </a:r>
          </a:p>
          <a:p>
            <a:pPr marL="285750" indent="-285750">
              <a:buFont typeface="Arial"/>
              <a:buChar char="•"/>
            </a:pPr>
            <a:r>
              <a:t>Limite de rendimentos até ao 8.º escalão do IRS.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para Jovens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Benefícios Fiscais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Limites da Transação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e Benefícios Fiscais da Transação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Valor máximo: €450.000</a:t>
            </a:r>
          </a:p>
          <a:p>
            <a:r>
              <a:t>Destino: Primeira habitação própria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Isenção de IMT e Imposto do Selo até €330.539</a:t>
            </a:r>
          </a:p>
          <a:p>
            <a:r>
              <a:t>Limite de rendimento (2 mutuários): €160.000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9923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Proposta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7204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Enquadramento</a:t>
            </a:r>
          </a:p>
        </p:txBody>
      </p:sp>
      <p:cxnSp>
        <p:nvCxnSpPr>
          <p:cNvPr id="9" name="Connector 9"/>
          <p:cNvCxnSpPr>
            <a:stCxn id="7" idx="3"/>
            <a:endCxn id="8" idx="1"/>
          </p:cNvCxnSpPr>
          <p:nvPr/>
        </p:nvCxnSpPr>
        <p:spPr>
          <a:xfrm>
            <a:off x="4703683" y="2809081"/>
            <a:ext cx="150352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Banco CTT aderiu ao protocolo em 2 de outubro de 2024.</a:t>
            </a:r>
          </a:p>
          <a:p>
            <a:pPr marL="285750" indent="-285750">
              <a:buFont typeface="Arial"/>
              <a:buChar char="•"/>
            </a:pPr>
            <a:r>
              <a:t>Operações utilizam um quadrante de preços de 65-85%.</a:t>
            </a:r>
          </a:p>
          <a:p>
            <a:pPr marL="285750" indent="-285750">
              <a:buFont typeface="Arial"/>
              <a:buChar char="•"/>
            </a:pPr>
            <a:r>
              <a:t>Existe um Crédito Sinal Jovem integrado no principal.</a:t>
            </a:r>
          </a:p>
          <a:p>
            <a:pPr marL="285750" indent="-285750">
              <a:buFont typeface="Arial"/>
              <a:buChar char="•"/>
            </a:pPr>
            <a:r>
              <a:t>A operacionalização está definida pelo DL n.º 44/2024.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Implementação e Próximos Passos Operacionais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
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desenhado especificamente para apoiar os jovens no acesso à habitação. A grande vantagem é que permite financiar o valor total do imóvel, sem necessidade de entrada.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participação do Estado é crucial neste regime, pois garante o financiamento total. O Estado assume parte do risco, cobrindo a diferença entre o financiamento padrão e os 100% disponíveis.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de elegibilidade que devem ser cumpridos. É importante notar que o limite de rendimento é de €80.000 por mutuário individualmente.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 financiamento facilitado, existem benefícios fiscais importantes para quem adquire a primeira casa. Esta isenção é válida até um determinado valor de transação.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é estruturado em etapas, começando pela proposta e seguindo para o enquadramento. Certifique-se de ter toda a documentação fiscal e registral pronta.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for um cliente estrangeiro, há requisitos adicionais de residência que devem ser cumpridos. Lembre-se que o processo pode incluir um serviço de solicitadoria que pode ser acionado por defeito.</a:t>
            </a:r>
          </a:p>
          <a:p/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clientes particulares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Oportunidade para Jovens Compradores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É um regime de crédito habitação para jovens até aos 35 anos.</a:t>
            </a:r>
          </a:p>
          <a:p>
            <a:pPr marL="285750" indent="-285750">
              <a:buFont typeface="Arial"/>
              <a:buChar char="•"/>
            </a:pPr>
            <a:r>
              <a:t>Criado pelo Decreto-Lei n.º 44/2024, de 10 de julho.</a:t>
            </a:r>
          </a:p>
          <a:p>
            <a:pPr marL="285750" indent="-285750">
              <a:buFont typeface="Arial"/>
              <a:buChar char="•"/>
            </a:pPr>
            <a:r>
              <a:t>Permite financiar até 100% do valor de aquisição.</a:t>
            </a:r>
          </a:p>
          <a:p>
            <a:pPr marL="285750" indent="-285750">
              <a:buFont typeface="Arial"/>
              <a:buChar char="•"/>
            </a:pPr>
            <a:r>
              <a:t>Elimina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Um Regime Especial para Jovens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Atua como fiador do empréstimo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Função do Estado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Cobre a diferença entre LTV usual (85%) e 100%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2" sz="quarter"/>
          </p:nvPr>
        </p:nvSpPr>
        <p:spPr/>
        <p:txBody>
          <a:bodyPr/>
          <a:lstStyle/>
          <a:p>
            <a:r>
              <a:t>Cobertura e Limites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Permite financiamento até 100% ou pelo menos 85%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>
            <a:r>
              <a:t>Benefício do Cliente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Não excede 15% do valor da transação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6" sz="quarter"/>
          </p:nvPr>
        </p:nvSpPr>
        <p:spPr/>
        <p:txBody>
          <a:bodyPr/>
          <a:lstStyle/>
          <a:p>
            <a:r>
              <a:t>Limite da Garantia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Garantia do Estado para Apoiar o Financiamento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Requisitos Financeiros e Patrimoniais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Requisitos Pessoais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Quem Pode Aceder a Este Regime?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Idade entre 18 e 35 anos</a:t>
            </a:r>
          </a:p>
          <a:p>
            <a:r>
              <a:t>Residente fiscal em Portugal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Rendimentos não exceder o 8.º escalão do IRS (até €80.000 por mutuário)</a:t>
            </a:r>
          </a:p>
          <a:p>
            <a:r>
              <a:t>Não possuir propriedade anterior</a:t>
            </a:r>
          </a:p>
          <a:p>
            <a:r>
              <a:t>Não usar esta garantia</a:t>
            </a:r>
          </a:p>
          <a:p>
            <a:r>
              <a:t>Valor da transação não ultrapassar €450.000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Isenção de IMT e Imposto do Selo aplicável.</a:t>
            </a:r>
          </a:p>
          <a:p>
            <a:pPr marL="285750" indent="-285750">
              <a:buFont typeface="Arial"/>
              <a:buChar char="•"/>
            </a:pPr>
            <a:r>
              <a:t>Válido para a primeira habitação permanente até €330.539.</a:t>
            </a:r>
          </a:p>
          <a:p>
            <a:pPr marL="285750" indent="-285750">
              <a:buFont typeface="Arial"/>
              <a:buChar char="•"/>
            </a:pPr>
            <a:r>
              <a:t>Benefício direto na aquisição do imóvel.</a:t>
            </a:r>
          </a:p>
          <a:p>
            <a:pPr marL="285750" indent="-285750">
              <a:buFont typeface="Arial"/>
              <a:buChar char="•"/>
            </a:pPr>
            <a:r>
              <a:t>A isenção aplica-se até ao limite estabelecido.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Benefícios Fiscais na Primeira Compra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Candidatura e Documentação Necessária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9923" y="2123281"/>
            <a:ext cx="34137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Proposta: IRS e domicílio fiscal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7204" y="2123281"/>
            <a:ext cx="34137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Enquadramento: Registo e AT</a:t>
            </a:r>
          </a:p>
        </p:txBody>
      </p:sp>
      <p:cxnSp>
        <p:nvCxnSpPr>
          <p:cNvPr id="9" name="Connector 9"/>
          <p:cNvCxnSpPr>
            <a:stCxn id="7" idx="3"/>
            <a:endCxn id="8" idx="1"/>
          </p:cNvCxnSpPr>
          <p:nvPr/>
        </p:nvCxnSpPr>
        <p:spPr>
          <a:xfrm>
            <a:off x="4703683" y="2809081"/>
            <a:ext cx="150352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Para estrangeiros, é exigido título de residência temporária há 3 anos.</a:t>
            </a:r>
          </a:p>
          <a:p>
            <a:pPr marL="285750" indent="-285750">
              <a:buFont typeface="Arial"/>
              <a:buChar char="•"/>
            </a:pPr>
            <a:r>
              <a:t>O título de residência deve estar válido na data da análise.</a:t>
            </a:r>
          </a:p>
          <a:p>
            <a:pPr marL="285750" indent="-285750">
              <a:buFont typeface="Arial"/>
              <a:buChar char="•"/>
            </a:pPr>
            <a:r>
              <a:t>O Serviço de Solicitadoria é opcional, mas aplicável por defeito.</a:t>
            </a:r>
          </a:p>
          <a:p>
            <a:pPr marL="285750" indent="-285750">
              <a:buFont typeface="Arial"/>
              <a:buChar char="•"/>
            </a:pPr>
            <a:r>
              <a:t>As operações são precificadas no quadrante 65-85%.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Condições Específicas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
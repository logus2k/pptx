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deverão ser capazes de compreender a essência deste regime especial. Vamos focar-nos nos requisitos, nos benefícios que os jovens podem usufruir e nos passos práticos para iniciar um processo.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Crédito Habitação Jovem. Este é um regime especial criado para apoiar os jovens no acesso à habitação. É importante notar que foi estabelecido por um diploma legal específico.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aspeto mais notável deste regime é a sua capacidade de financiar até 100% do valor do imóvel. Isto significa que os jovens não precisam de ter um valor inicial para a entrada. O Estado Português entra como fiador para cobrir a diferença entre o LTV normal e os 100% do valor de aquisição.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Agora, vamos abordar os critérios de elegibilidade. Não basta ser jovem; existem requisitos específicos de residência, rendimento e valor do imóvel. É fundamental cumprir todos estes pontos para que a candidatura seja considerada.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pessoais são claros: a idade deve estar entre 18 e 35 anos e ter domicílio fiscal em Portugal. Quanto aos rendimentos, há limites definidos pelo 8.º escalão do IRS. É importante saber que o limite é de 80.000€ para um mutuário, podendo subir para 160.000€ com dois mutuários.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dos requisitos pessoais, há limites financeiros importantes. O valor da transação não pode exceder 450.000€. A garantia do Estado tem um limite máximo de 15% do valor do prédio urbano. Para cidadãos estrangeiros, há uma condição adicional de residência temporária válida há pelo menos três anos.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módulo foca-se nos benefícios diretos que os mutuários obtêm e nos processos administrativos envolvidos. Vamos ver as isenções fiscais e como é feita a avaliação da elegibilidade.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benefício fiscal importante é a isenção de IMT e Imposto do Selo, aplicável a imóveis com valor até 330.539€. O processo de elegibilidade é feito em duas etapas: a Proposta de Risco e o Enquadramento de Proposta. É importante saber que as recusas só são emitidas após a proposta ser submetida à análise de risco.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avançar com o crédito, é necessário reunir a documentação correta. Vamos distinguir entre os documentos necessários para criar a proposta inicial e aqueles necessários para o enquadramento final do crédito.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criação da proposta exige documentos como o formulário de adesão, a declaração de IRS e o certificado de domicílio fiscal. Já para o enquadramento, são necessários documentos do imóvel, como o registo predial e certidões negativas da AT e SS. Lembrem-se que o Serviço de Solicitadoria pode ser opcional, mas é aplicado por defeito em aquisições.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resposta para a primeira pergunta é que os mutuários devem ter 35 anos ou menos. O Estado atua como fiador, cobrindo a diferença entre o LTV normal e os 100% do valor de aquisição. Os dois tipos de documentos são para a criação de proposta e para o enquadramento de proposta.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de apoio à habitação jovem. Permite financiamento total e oferece benefícios fiscais significativos. No entanto, é crucial cumprir os critérios rigorosos de idade, rendimento e valor do imóvel. Lembrem-se sempre de preparar a documentação correta para cada fase do processo.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Compreender o que é o Crédito Habitação Jovem.</a:t>
            </a:r>
          </a:p>
          <a:p>
            <a:pPr marL="285750" indent="-285750">
              <a:buFont typeface="Arial"/>
              <a:buChar char="•"/>
            </a:pPr>
            <a:r>
              <a:t>Identificar os critérios de elegibilidade para o regime.</a:t>
            </a:r>
          </a:p>
          <a:p>
            <a:pPr marL="285750" indent="-285750">
              <a:buFont typeface="Arial"/>
              <a:buChar char="•"/>
            </a:pPr>
            <a:r>
              <a:t>Conhecer os benefícios e isenções associadas ao crédito.</a:t>
            </a:r>
          </a:p>
          <a:p>
            <a:pPr marL="285750" indent="-285750">
              <a:buFont typeface="Arial"/>
              <a:buChar char="•"/>
            </a:pPr>
            <a:r>
              <a:t>Saber quais os documentos necessários para a candidatura.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 Que É o Crédito Habitação Jovem?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Apresentar o regime especial de crédito habitação para jovens.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É um regime especial para jovens com 35 anos ou menos.</a:t>
            </a:r>
          </a:p>
          <a:p>
            <a:pPr marL="285750" indent="-285750">
              <a:buFont typeface="Arial"/>
              <a:buChar char="•"/>
            </a:pPr>
            <a:r>
              <a:t>Permite financiamento de até 100% do valor de compra.</a:t>
            </a:r>
          </a:p>
          <a:p>
            <a:pPr marL="285750" indent="-285750">
              <a:buFont typeface="Arial"/>
              <a:buChar char="•"/>
            </a:pPr>
            <a:r>
              <a:t>Elimina a necessidade de capitais próprios para a entrada.</a:t>
            </a:r>
          </a:p>
          <a:p>
            <a:pPr marL="285750" indent="-285750">
              <a:buFont typeface="Arial"/>
              <a:buChar char="•"/>
            </a:pPr>
            <a:r>
              <a:t>O Estado Português atua como fiador do empréstimo.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7500"/>
          </a:bodyPr>
          <a:lstStyle/>
          <a:p>
            <a:r>
              <a:t>Detalhar os requisitos que os mutuários devem cumprir para aceder ao crédito.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Requisitos Financeiros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Requisitos Pessoais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Idade entre 18 e 35 anos</a:t>
            </a:r>
          </a:p>
          <a:p>
            <a:r>
              <a:t>Domicílio fiscal em Portugal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Rendimentos não exceder o 8.º escalão do IRS</a:t>
            </a:r>
          </a:p>
          <a:p>
            <a:r>
              <a:t>Limite: 80.000€ (1 mutuário) / 160.000€ (2 mutuários)</a:t>
            </a:r>
          </a:p>
          <a:p>
            <a:r>
              <a:t>Crédito para primeira habitação própria permanente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Requisitos Específicos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Limites Financeiros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da Transação e Garantia Estatal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Valor da transação máximo: €450.000</a:t>
            </a:r>
          </a:p>
          <a:p>
            <a:r>
              <a:t>Garantia do Estado: não excede 15% do valor da transação</a:t>
            </a:r>
          </a:p>
          <a:p>
            <a:r>
              <a:t>Financiamento: até 100% ou pelo menos 85%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Estrangeiros: exigido título de residência temporária válido há 3 anos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 Fiscais e Operacionais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Conhecer as vantagens fiscais e os procedimentos de avaliação do crédito.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Isenção de IMT e Imposto do Selo para imóveis até €330.539.</a:t>
            </a:r>
          </a:p>
          <a:p>
            <a:pPr marL="285750" indent="-285750">
              <a:buFont typeface="Arial"/>
              <a:buChar char="•"/>
            </a:pPr>
            <a:r>
              <a:t>A avaliação ocorre em duas fases: Proposta de Risco e Enquadramento de Proposta.</a:t>
            </a:r>
          </a:p>
          <a:p>
            <a:pPr marL="285750" indent="-285750">
              <a:buFont typeface="Arial"/>
              <a:buChar char="•"/>
            </a:pPr>
            <a:r>
              <a:t>As cartas de recusa são emitidas apenas após submissão à análise de risco.</a:t>
            </a:r>
          </a:p>
          <a:p>
            <a:pPr marL="285750" indent="-285750">
              <a:buFont typeface="Arial"/>
              <a:buChar char="•"/>
            </a:pPr>
            <a:r>
              <a:t>O CTT Bank aderiu ao protocolo em 2 de outubro de 2024.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Isenções e Procedimentos de Avaliação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Documentação Necessária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7500"/>
          </a:bodyPr>
          <a:lstStyle/>
          <a:p>
            <a:r>
              <a:t>Identificar os documentos exigidos para a criação e enquadramento da proposta.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Enquadramento da Proposta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Criação da Proposta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Documentos para Candidatura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Formulário de adesão</a:t>
            </a:r>
          </a:p>
          <a:p>
            <a:r>
              <a:t>IRS</a:t>
            </a:r>
          </a:p>
          <a:p>
            <a:r>
              <a:t>Certidão de domicílio fiscal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Certificado de registo predial</a:t>
            </a:r>
          </a:p>
          <a:p>
            <a:r>
              <a:t>Certidão negativa da AT</a:t>
            </a:r>
          </a:p>
          <a:p>
            <a:r>
              <a:t>Certificados de não-dívida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Qual é o limite máximo de idade para beneficiar do Crédito Habitação Jovem?</a:t>
            </a:r>
          </a:p>
          <a:p>
            <a:pPr marL="285750" indent="-285750">
              <a:buFont typeface="Arial"/>
              <a:buChar char="•"/>
            </a:pPr>
            <a:r>
              <a:t>Que tipo de garantia o Estado Português oferece neste regime?</a:t>
            </a:r>
          </a:p>
          <a:p>
            <a:pPr marL="285750" indent="-285750">
              <a:buFont typeface="Arial"/>
              <a:buChar char="•"/>
            </a:pPr>
            <a:r>
              <a:t>Quais são os dois tipos de documentos necessários para a candidatura?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Verificação de Aprendizagem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Crédito Habitação Jovem é um apoio para jovens (até 35 anos) com financiamento de até 100%.</a:t>
            </a:r>
          </a:p>
          <a:p>
            <a:pPr marL="285750" indent="-285750">
              <a:buFont typeface="Arial"/>
              <a:buChar char="•"/>
            </a:pPr>
            <a:r>
              <a:t>O Estado garante a diferença do LTV, e há isenções fiscais para imóveis até €330.539.</a:t>
            </a:r>
          </a:p>
          <a:p>
            <a:pPr marL="285750" indent="-285750">
              <a:buFont typeface="Arial"/>
              <a:buChar char="•"/>
            </a:pPr>
            <a:r>
              <a:t>A elegibilidade depende de critérios como rendimento (até 8.º escalão IRS) e valor da transação (até €450.000).</a:t>
            </a:r>
          </a:p>
          <a:p>
            <a:pPr marL="285750" indent="-285750">
              <a:buFont typeface="Arial"/>
              <a:buChar char="•"/>
            </a:pPr>
            <a:r>
              <a:t>O processo exige documentação específica para a criação e enquadramento da proposta.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
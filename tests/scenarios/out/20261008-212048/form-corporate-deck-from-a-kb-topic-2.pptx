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É importante notar que este programa foi estabelecido pelo Decreto-Lei n.º 44/2024.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grande vantagem deste regime é que permite financiar até 100% do valor de aquisição, o que elimina a necessidade de ter um valor inicial para a entrada. O Estado Português garante esta diferença.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serem elegíveis, os candidatos devem cumprir vários critérios, como a idade e o domicílio fiscal em Portugal. Também existem limites claros para o valor da transação e a posse de bens anteriores.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definidos de forma clara, sendo mais altos para casais. Além disso, há benefícios fiscais importantes, como a isenção de IMT e Imposto do Selo para certas compras.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é estruturado em duas etapas principais: a Proposta de Risco e o Enquadramento da Proposta. É fundamental reunir a documentação correta desde o início para agilizar 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CTT Bank já faz parte deste protocolo, e as condições de precificação estão definidas no quadrante 65-85%. Lembre-se que, para clientes estrangeiros, é exigido um título de residência temporário válido.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de crédito habitação jovem.</a:t>
            </a:r>
          </a:p>
          <a:p>
            <a:pPr marL="285750" indent="-285750">
              <a:buFont typeface="Arial"/>
              <a:buChar char="•"/>
            </a:pPr>
            <a:r>
              <a:t>Destinado a pessoas com 35 anos ou menos.</a:t>
            </a:r>
          </a:p>
          <a:p>
            <a:pPr marL="285750" indent="-285750">
              <a:buFont typeface="Arial"/>
              <a:buChar char="•"/>
            </a:pPr>
            <a:r>
              <a:t>Criado pelo Decreto-Lei n.º 44/2024.</a:t>
            </a:r>
          </a:p>
          <a:p>
            <a:pPr marL="285750" indent="-285750">
              <a:buFont typeface="Arial"/>
              <a:buChar char="•"/>
            </a:pPr>
            <a:r>
              <a:t>Aplica-se a jovens de 18 a 35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 Compradores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Permite financiar até 100% do valor da casa.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  <a:p>
            <a:pPr marL="285750" indent="-285750">
              <a:buFont typeface="Arial"/>
              <a:buChar char="•"/>
            </a:pPr>
            <a:r>
              <a:t>O Estado Português atua como fiador.</a:t>
            </a:r>
          </a:p>
          <a:p>
            <a:pPr marL="285750" indent="-285750">
              <a:buFont typeface="Arial"/>
              <a:buChar char="•"/>
            </a:pPr>
            <a:r>
              <a:t>Cobre a diferença entre 85% e 100% do valor.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Sem Necessidade de 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Limites Financeiros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Ser residente fiscal em Portugal.</a:t>
            </a:r>
          </a:p>
          <a:p>
            <a:r>
              <a:t>Não possuir propriedade anterior.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Rendimentos não podem exceder o 8.º escalão do IRS.</a:t>
            </a:r>
          </a:p>
          <a:p>
            <a:r>
              <a:t>Valor da transação não pode ultrapassar €450.000.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Benefícios e Aplicação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Limites de Rendimento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Limite individual: €80.000</a:t>
            </a:r>
          </a:p>
          <a:p>
            <a:r>
              <a:t>Limite para dois mutuários: até €160.000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Isenção de IMT e Imposto do Selo</a:t>
            </a:r>
          </a:p>
          <a:p>
            <a:r>
              <a:t>Válido para compras até €330.539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Simplificado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923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Proposta de Risco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7204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Enquadramento da Proposta</a:t>
            </a:r>
          </a:p>
        </p:txBody>
      </p:sp>
      <p:cxnSp>
        <p:nvCxnSpPr>
          <p:cNvPr id="9" name="Connector 9"/>
          <p:cNvCxnSpPr>
            <a:stCxn id="7" idx="3"/>
            <a:endCxn id="8" idx="1"/>
          </p:cNvCxnSpPr>
          <p:nvPr/>
        </p:nvCxnSpPr>
        <p:spPr>
          <a:xfrm>
            <a:off x="4703683" y="2809081"/>
            <a:ext cx="15035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CTT Bank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As operações são cotadas no quadrante 65-85%.</a:t>
            </a:r>
          </a:p>
          <a:p>
            <a:pPr marL="285750" indent="-285750">
              <a:buFont typeface="Arial"/>
              <a:buChar char="•"/>
            </a:pPr>
            <a:r>
              <a:t>Para estrangeiros, é necessário título de residência temporário.</a:t>
            </a:r>
          </a:p>
          <a:p>
            <a:pPr marL="285750" indent="-285750">
              <a:buFont typeface="Arial"/>
              <a:buChar char="•"/>
            </a:pPr>
            <a:r>
              <a:t>A análise de elegibilidade é rigorosa e faseada.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Informação Adicional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
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focar-nos em fornecer-lhe um conhecimento sólido sobre o Crédito Habitação Jovem. Ao final, saberá exatamente o que é este regime especial. Irá aprender os requisitos para poder aceder a ele e quais são os benefícios que pode usufruir. Também vamos detalhar a documentação necessária para iniciar 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É importante notar que este regime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central deste regime é o seu foco nos jovens. O DL n.º 44/2024 formalizou este apoio. A grande vantagem é que permite financiar o valor total do imóvel. Isto significa que não precisa de ter dinheiro para a entrada, o que é um grande alívio financeiro.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entra em cena como fiador neste processo. A sua função é cobrir a diferença entre o financiamento padrão e os 100% que este regime oferece. Vamos ver como funciona esta garantia na prática.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papel do Estado é crucial para atingir os 100% de financiamento. A garantia limita-se a 15% do valor do imóvel. É importante saber que o CTT Bank já faz parte deste protocolo, e as operações são precificadas numa faixa específica.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abordar quem pode beneficiar deste crédito. Existem critérios claros relacionados com a idade, a residência fiscal e os rendimentos. É fundamental cumprir todos estes requisitos para que o pedido seja considerado.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específicos. A idade é um fator chave, assim como o domicílio fiscal em Portugal. Os limites de rendimento e de valor da transação são rigorosos. Além disso, não pode ter sido proprietário de imóvel antes ou ter usado esta garantia antes.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por pessoa ou por casal, dependendo do quociente familiar. Para quem não é residente, há requisitos adicionais de residência. É crucial que o título de residência esteja válido no momento da análise, pois renovações em curso não são consideradas.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importantes. O processo de avaliação é feito em fases. É importante entender como funciona a avaliação de risco antes de avançar para o enquadramento da proposta.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mutuários beneficiam de isenções fiscais significativas, desde que a compra seja a primeira habitação e o valor não exceda o limite estabelecido. O processo é estruturado em duas etapas de avaliação. É importante saber que a recusa só ocorre após a submissão ao risco.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sucesso do pedido depende da documentação correta. Existem documentos diferentes para a criação inicial da proposta e para o seu enquadramento final. Vamos rever cada um deles para garantir que não há falhas.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criação, precisamos de documentos pessoais e fiscais. Para estrangeiros, o título de residência é um requisito adicional. A FAP é o documento que formaliza a sua intenção de candidatura, juntamente com os dados do imóvel.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a proposta avança para o enquadramento, os documentos passam a focar-se no imóvel e nas dívidas. Precisamos de certidões oficiais do imóvel e de comprovação de que não existem dívidas pendentes. O documento de compra é essencial nesta fase.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vamos responder a estas perguntas. A idade máxima é 35 anos. A garantia do Estado não pode exceder 15% do valor da transação. Os documentos para enquadramento são os certificados do Registo/AT e os certificados de não-dívida da AT e SS.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o valor total do imóvel com o apoio do Estado. No entanto, é fundamental cumprir os critérios de elegibilidade, como os limites de rendimento e o valor máximo. Lembrem-se que a documentação correta, em cada fase, é o que garante o sucesso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este regime.</a:t>
            </a:r>
          </a:p>
          <a:p>
            <a:pPr marL="285750" indent="-285750">
              <a:buFont typeface="Arial"/>
              <a:buChar char="•"/>
            </a:pPr>
            <a:r>
              <a:t>Conhecer os benefícios e isenções associadas.</a:t>
            </a:r>
          </a:p>
          <a:p>
            <a:pPr marL="285750" indent="-285750">
              <a:buFont typeface="Arial"/>
              <a:buChar char="•"/>
            </a:pPr>
            <a:r>
              <a:t>Saber quais os documentos necessários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conceito e o enquadramento legal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empréstimo especial para jovens com 35 anos ou menos.</a:t>
            </a:r>
          </a:p>
          <a:p>
            <a:pPr marL="285750" indent="-285750">
              <a:buFont typeface="Arial"/>
              <a:buChar char="•"/>
            </a:pPr>
            <a:r>
              <a:t>Foi estabelecido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os mutuários terem capitais próprios para a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Garantia do Estado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Explicar o papel do Estado como fiador e os seus limites operacionais.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Funciona a Garantia Estatal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garante a diferença entre o LTV usual (85%) e os 100% de financiamento.</a:t>
            </a:r>
          </a:p>
          <a:p>
            <a:pPr marL="285750" indent="-285750">
              <a:buFont typeface="Arial"/>
              <a:buChar char="•"/>
            </a:pPr>
            <a:r>
              <a:t>A garantia do Estado não ultrapassa 15% do valor da transação.</a:t>
            </a:r>
          </a:p>
          <a:p>
            <a:pPr marL="285750" indent="-285750">
              <a:buFont typeface="Arial"/>
              <a:buChar char="•"/>
            </a:pPr>
            <a:r>
              <a:t>Permite financiar até 100% ou, no mínimo, 85% do valor.</a:t>
            </a:r>
          </a:p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de idade, residência e rendimento para aceder ao regime.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Requisitos Pessoais</a:t>
            </a:r>
          </a:p>
          <a:p>
            <a:r>
              <a:t>Idade entre 18 e 35 anos</a:t>
            </a:r>
          </a:p>
          <a:p>
            <a:r>
              <a:t>Domicílio fiscal em Portugal</a:t>
            </a:r>
          </a:p>
          <a:p>
            <a:r>
              <a:t>Não possuir propriedade anterior</a:t>
            </a:r>
          </a:p>
          <a:p>
            <a:r>
              <a:t>Não ter usado esta garantia estatal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Requisitos Financeiros</a:t>
            </a:r>
          </a:p>
          <a:p>
            <a:r>
              <a:t>Rendimento não exceder o 8.º escalão do IRS</a:t>
            </a:r>
          </a:p>
          <a:p>
            <a:r>
              <a:t>Valor da transação não ultrapassar €450.000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Outras Condições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Limites de Rendimento</a:t>
            </a:r>
          </a:p>
          <a:p>
            <a:r>
              <a:t>Limite individual: €80.000 por mutuário.</a:t>
            </a:r>
          </a:p>
          <a:p>
            <a:r>
              <a:t>Limite para dois mutuários: até €160.000 (quociente familiar).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Condições para Estrangeiros</a:t>
            </a:r>
          </a:p>
          <a:p>
            <a:r>
              <a:t>Necessário título de residência temporária há 3 anos.</a:t>
            </a:r>
          </a:p>
          <a:p>
            <a:r>
              <a:t>Título deve estar válido na data da análise; renovações em curso não são aceites.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Processo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vantagens fiscais e as fases de avaliação do pedido.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Avaliação do Pedido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Isenção de IMT e Imposto do Selo na primeira habitação até €330.539.</a:t>
            </a:r>
          </a:p>
          <a:p>
            <a:pPr marL="285750" indent="-285750">
              <a:buFont typeface="Arial"/>
              <a:buChar char="•"/>
            </a:pPr>
            <a:r>
              <a:t>A avaliação ocorre em duas fases: Proposta de Risco e Enquadramento de Proposta.</a:t>
            </a:r>
          </a:p>
          <a:p>
            <a:pPr marL="285750" indent="-285750">
              <a:buFont typeface="Arial"/>
              <a:buChar char="•"/>
            </a:pPr>
            <a:r>
              <a:t>As cartas de recusa são emitidas apenas para propostas submetidas ao risco.</a:t>
            </a:r>
          </a:p>
          <a:p>
            <a:pPr marL="285750" indent="-285750">
              <a:buFont typeface="Arial"/>
              <a:buChar char="•"/>
            </a:pPr>
            <a:r>
              <a:t>O Serviço de Solicitadoria é opcional, mas aplicável por defeito em aquisições.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Revisar os documentos exigidos para a criação e o enquadramento da proposta.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Criação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Formulário de adesão, declaração de IRS (ou certificados SS/pensionista), e certificado de domicílio fiscal.</a:t>
            </a:r>
          </a:p>
          <a:p>
            <a:pPr marL="285750" indent="-285750">
              <a:buFont typeface="Arial"/>
              <a:buChar char="•"/>
            </a:pPr>
            <a:r>
              <a:t>Para clientes estrangeiros, é obrigatório o título de residência temporária.</a:t>
            </a:r>
          </a:p>
          <a:p>
            <a:pPr marL="285750" indent="-285750">
              <a:buFont typeface="Arial"/>
              <a:buChar char="•"/>
            </a:pPr>
            <a:r>
              <a:t>A FAP formaliza a candidatura, incluindo dados do imóvel e autorização de crédito.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Certificados do Registo e da Autoridade Tributária do imóvel.</a:t>
            </a:r>
          </a:p>
          <a:p>
            <a:pPr marL="285750" indent="-285750">
              <a:buFont typeface="Arial"/>
              <a:buChar char="•"/>
            </a:pPr>
            <a:r>
              <a:t>Certificados de não-dívida da AT e Segurança Social.</a:t>
            </a:r>
          </a:p>
          <a:p>
            <a:pPr marL="285750" indent="-285750">
              <a:buFont typeface="Arial"/>
              <a:buChar char="•"/>
            </a:pPr>
            <a:r>
              <a:t>Documento do valor de compra (CPCV/FAP).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a idade máxima para ser elegível para o Crédito Habitação Jovem?</a:t>
            </a:r>
          </a:p>
          <a:p>
            <a:pPr marL="285750" indent="-285750">
              <a:buFont typeface="Arial"/>
              <a:buChar char="•"/>
            </a:pPr>
            <a:r>
              <a:t>Que percentagem do valor da transação a garantia do Estado não pode exceder?</a:t>
            </a:r>
          </a:p>
          <a:p>
            <a:pPr marL="285750" indent="-285750">
              <a:buFont typeface="Arial"/>
              <a:buChar char="•"/>
            </a:pPr>
            <a:r>
              <a:t>Quais são os dois tipos de documentos necessários para o enquadramento da proposta?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Características do CH Jovem</a:t>
            </a:r>
          </a:p>
          <a:p>
            <a:r>
              <a:t>Regime para jovens (até 35 anos)</a:t>
            </a:r>
          </a:p>
          <a:p>
            <a:r>
              <a:t>Financiamento de até 100% do imóvel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Mecanismo de Apoio e Requisitos</a:t>
            </a:r>
          </a:p>
          <a:p>
            <a:r>
              <a:t>Estado atua como fiador (cobre diferença LTV)</a:t>
            </a:r>
          </a:p>
          <a:p>
            <a:r>
              <a:t>Critérios rigorosos de elegibilidade (rendimento/valor)</a:t>
            </a:r>
          </a:p>
          <a:p>
            <a:r>
              <a:t>Candidatura exige documentação específica por fases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
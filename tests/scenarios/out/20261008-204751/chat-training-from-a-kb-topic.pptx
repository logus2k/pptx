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que é este regime e quem pode beneficiar dele. Vamos focar-nos nos requisitos, nos processos e nos benefícios fiscais. O nosso objetivo é dar-vos uma visão completa deste apoio para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entender o enquadramento legal deste regime. É fundamental saber que este programa foi criado por legislação específica. Vamos ver o que diz o DL n.º 44/2024 e qual é o seu objetivo principal.</a:t>
            </a:r>
          </a:p>
          <a:p/>
          <a:p>
            <a:r>
              <a:t>Fonte: 11 - Crédito Habitação Jovem &gt; Crédito Habitação Jovem - Garantia do Estado &gt; Enquadramento Legal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Crédito Habitação Jovem é um suporte específico para jovens. É importante notar que este regime foi estabelecido por um Decreto-Lei específico. A grande vantagem é que permite financiar 100% do valor do imóvel, o que elimina a necessidade de ter dinheiro para a entrada. Isto é possível graças à garantia do Estado.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o pilar deste regime. O Estado assume parte do risco, limitando a sua participação a 15% do valor da transação. Isto permite que os mutuários consigam financiar 100% do valor, superando o limite padrão de 85% de LTV. É a garantia que torna este financiamento possível.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entendemos o que é o regime e como funciona a garantia, vamos focar-nos em quem pode beneficiar. Os critérios são específicos e envolvem idade, residência fiscal e limites de rendimento. Vamos rever cada um destes pontos com atenção.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são claros: a idade deve estar entre 18 e 35 anos e o beneficiário deve ser residente fiscal em Portugal. Além disso, há limites estritos ao valor do imóvel e ao rendimento. O crédito tem de ser destinado à primeira habitação própria e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detalhar os limites financeiros. O rendimento máximo é definido pelo 8.º escalão do IRS, sendo 80.000 euros para um mutuário e 160.000 euros para dois. É crucial lembrar que o valor do imóvel não pode ultrapassar os 450.000 euros. Para estrangeiros, a residência deve ser comprovada por um título válido há pelo menos 3 anos.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passa por duas fases principais: a Proposta e o Enquadramento. Cada fase exige um conjunto específico de documentos. Vamos detalhar o que é necessário em cada etapa para garantir que o processo decorre sem falhas.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 a proposta, o cliente precisa de reunir vários documentos. Estes incluem o formulário de adesão, comprovativos de rendimentos e a nota de liquidação do IRS. O Cartão de Cidadão é fundamental para a identificação.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a verificação do imóvel. É necessário obter certidões prediais, tanto a positiva como a negativa. Além disso, deve comprovar que não existem dívidas junto da AT e SS, e apresentar o valor de aquisição.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 uma solução para o sinal, que é o Crédito Sinal Jovem, disponibilizado pelo Banco CTT. Este valor é financiado separadamente, mas depois integrado no crédito principal. Este mecanismo é importante porque impede que haja dupla tributação sobre o ISUC.</a:t>
            </a:r>
          </a:p>
          <a:p/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questões. A idade limite é de 35 anos. Para a criação da proposta, são necessários o Formulário de adesão, Declaração de IRS e Nota de liquidação de IRS. A garantia do Estado cobre a diferença entre o LTV usual (85%) e o financiamento total de 100%.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finalizar, vamos rever os benefícios fiscais que tornam este regime ainda mais atrativo. Depois, faremos um resumo conciso de tudo o que vimos. Este regime é um apoio significativo para quem está a iniciar a vida profissional e a comprar casa.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grandes incentivos é a isenção de IMT e Imposto do Selo. Esta isenção é válida para imóveis cujo valor não ultrapasse 330.539 euros. Se o valor for superior, aplica-se o limite máximo de isenção do escalão anterior.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apoio robusto para jovens. Ele permite financiar 100% do imóvel com a garantia do Estado. Lembrem-se dos limites de idade, rendimento e valor. E não se esqueçam dos benefícios fiscais, como a isenção de IMT e Imposto do Selo, que são cruciais para o planeamento financeiro.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Um Guia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este regime.</a:t>
            </a:r>
          </a:p>
          <a:p>
            <a:pPr marL="285750" indent="-285750">
              <a:buFont typeface="Arial"/>
              <a:buChar char="•"/>
            </a:pPr>
            <a:r>
              <a:t>Saber quais os documentos necessários para a candidatura.</a:t>
            </a:r>
          </a:p>
          <a:p>
            <a:pPr marL="285750" indent="-285750">
              <a:buFont typeface="Arial"/>
              <a:buChar char="•"/>
            </a:pPr>
            <a:r>
              <a:t>Conhecer os benefícios fiscais associados ao regime.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Enquadramento Legal e Conceito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 base legal e o propósito do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para jovens com idade máxima de 35 anos.</a:t>
            </a:r>
          </a:p>
          <a:p>
            <a:pPr marL="285750" indent="-285750">
              <a:buFont typeface="Arial"/>
              <a:buChar char="•"/>
            </a:pPr>
            <a:r>
              <a:t>Foi criado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Regulamentado pela Portaria n.º 236-A/2024/1, de 27 de setembro.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Garantia do Estado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atua como garantidor do crédito.</a:t>
            </a:r>
          </a:p>
          <a:p>
            <a:pPr marL="285750" indent="-285750">
              <a:buFont typeface="Arial"/>
              <a:buChar char="•"/>
            </a:pPr>
            <a:r>
              <a:t>A garantia pessoal do Estado não ultrapassa 15% do valor da transação.</a:t>
            </a:r>
          </a:p>
          <a:p>
            <a:pPr marL="285750" indent="-285750">
              <a:buFont typeface="Arial"/>
              <a:buChar char="•"/>
            </a:pPr>
            <a:r>
              <a:t>Visa permitir financiamento de 100% ou &gt;= 85% do valor.</a:t>
            </a:r>
          </a:p>
          <a:p>
            <a:pPr marL="285750" indent="-285750">
              <a:buFont typeface="Arial"/>
              <a:buChar char="•"/>
            </a:pPr>
            <a:r>
              <a:t>O Estado cobre a diferença entre o LTV usual (85%) e o financiamento de 100%.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Verificar os requisitos de idade, residência e rendimentos para ser elegível.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do Imóvel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Idade entre 18 e 35 anos.</a:t>
            </a:r>
          </a:p>
          <a:p>
            <a:pPr marL="285750" indent="-285750">
              <a:buFont typeface="Arial"/>
              <a:buChar char="•"/>
            </a:pPr>
            <a:r>
              <a:t>Domicílio fiscal em Portugal.</a:t>
            </a:r>
          </a:p>
          <a:p>
            <a:pPr marL="285750" indent="-285750">
              <a:buFont typeface="Arial"/>
              <a:buChar char="•"/>
            </a:pPr>
            <a:r>
              <a:t>Rendimentos não superiores ao 8.º escalão do IRS.</a:t>
            </a:r>
          </a:p>
          <a:p>
            <a:pPr marL="285750" indent="-285750">
              <a:buFont typeface="Arial"/>
              <a:buChar char="•"/>
            </a:pPr>
            <a:r>
              <a:t>Valor da transação não pode exceder 450.000,00 euros.</a:t>
            </a:r>
          </a:p>
          <a:p>
            <a:pPr marL="285750" indent="-285750">
              <a:buFont typeface="Arial"/>
              <a:buChar char="•"/>
            </a:pPr>
            <a:r>
              <a:t>O crédito deve ser para primeira habitação própria permanente.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Limite do 8.º escalão do IRS: 80.000 euros por mutuário individual.</a:t>
            </a:r>
          </a:p>
          <a:p>
            <a:pPr marL="285750" indent="-285750">
              <a:buFont typeface="Arial"/>
              <a:buChar char="•"/>
            </a:pPr>
            <a:r>
              <a:t>Para dois mutuários, o limite é de 160.000 euros.</a:t>
            </a:r>
          </a:p>
          <a:p>
            <a:pPr marL="285750" indent="-285750">
              <a:buFont typeface="Arial"/>
              <a:buChar char="•"/>
            </a:pPr>
            <a:r>
              <a:t>O valor máximo da transação é de 450.000,00 euros.</a:t>
            </a:r>
          </a:p>
          <a:p>
            <a:pPr marL="285750" indent="-285750">
              <a:buFont typeface="Arial"/>
              <a:buChar char="•"/>
            </a:pPr>
            <a:r>
              <a:t>A elegibilidade também se aplica a estrangeiros sob certas condições.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Conhecer as etapas de aferição e a documentação necessária para avançar com o pedido.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necessário o Formulário de adesão.</a:t>
            </a:r>
          </a:p>
          <a:p>
            <a:pPr marL="285750" indent="-285750">
              <a:buFont typeface="Arial"/>
              <a:buChar char="•"/>
            </a:pPr>
            <a:r>
              <a:t>Deve apresentar a Declaração de IRS ou comprovativos de rendimentos.</a:t>
            </a:r>
          </a:p>
          <a:p>
            <a:pPr marL="285750" indent="-285750">
              <a:buFont typeface="Arial"/>
              <a:buChar char="•"/>
            </a:pPr>
            <a:r>
              <a:t>É exigida a Nota de liquidação de IRS.</a:t>
            </a:r>
          </a:p>
          <a:p>
            <a:pPr marL="285750" indent="-285750">
              <a:buFont typeface="Arial"/>
              <a:buChar char="•"/>
            </a:pPr>
            <a:r>
              <a:t>O Cartão de cidadão é um documento obrigatório.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Exige-se a Certidão predial e a Certidão Predial Negativa.</a:t>
            </a:r>
          </a:p>
          <a:p>
            <a:pPr marL="285750" indent="-285750">
              <a:buFont typeface="Arial"/>
              <a:buChar char="•"/>
            </a:pPr>
            <a:r>
              <a:t>São necessários documentos de não dívida (AT e SS).</a:t>
            </a:r>
          </a:p>
          <a:p>
            <a:pPr marL="285750" indent="-285750">
              <a:buFont typeface="Arial"/>
              <a:buChar char="•"/>
            </a:pPr>
            <a:r>
              <a:t>É preciso um documento que ateste o valor de aquisição do imóvel.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Papel do Crédito Sinal Jovem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Banco CTT oferece o Crédito Sinal Jovem.</a:t>
            </a:r>
          </a:p>
          <a:p>
            <a:pPr marL="285750" indent="-285750">
              <a:buFont typeface="Arial"/>
              <a:buChar char="•"/>
            </a:pPr>
            <a:r>
              <a:t>Este crédito financia o sinal da aquisição.</a:t>
            </a:r>
          </a:p>
          <a:p>
            <a:pPr marL="285750" indent="-285750">
              <a:buFont typeface="Arial"/>
              <a:buChar char="•"/>
            </a:pPr>
            <a:r>
              <a:t>É integrado no crédito habitação principal.</a:t>
            </a:r>
          </a:p>
          <a:p>
            <a:pPr marL="285750" indent="-285750">
              <a:buFont typeface="Arial"/>
              <a:buChar char="•"/>
            </a:pPr>
            <a:r>
              <a:t>Isto evita a dupla tributação sobre o ISUC.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idade para beneficiar do Crédito Habitação Jovem?</a:t>
            </a:r>
          </a:p>
          <a:p>
            <a:pPr marL="285750" indent="-285750">
              <a:buFont typeface="Arial"/>
              <a:buChar char="•"/>
            </a:pPr>
            <a:r>
              <a:t>Que documentos são necessários para a criação da proposta?</a:t>
            </a:r>
          </a:p>
          <a:p>
            <a:pPr marL="285750" indent="-285750">
              <a:buFont typeface="Arial"/>
              <a:buChar char="•"/>
            </a:pPr>
            <a:r>
              <a:t>Qual é o papel da garantia do Estado no financiamento de 100%?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Conclusão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Revisitar os benefícios fiscais e resumir os pontos chave do regime.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na compra da primeira habitação.</a:t>
            </a:r>
          </a:p>
          <a:p>
            <a:pPr marL="285750" indent="-285750">
              <a:buFont typeface="Arial"/>
              <a:buChar char="•"/>
            </a:pPr>
            <a:r>
              <a:t>A isenção aplica-se a imóveis com valor até 330.539 euros.</a:t>
            </a:r>
          </a:p>
          <a:p>
            <a:pPr marL="285750" indent="-285750">
              <a:buFont typeface="Arial"/>
              <a:buChar char="•"/>
            </a:pPr>
            <a:r>
              <a:t>Para valores superiores, aplica-se o máximo de isenção do escalão anterior.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Takeaways do CH Jovem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para jovens (&lt;= 35 anos) com garantia do Estado.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da aquisição.</a:t>
            </a:r>
          </a:p>
          <a:p>
            <a:pPr marL="285750" indent="-285750">
              <a:buFont typeface="Arial"/>
              <a:buChar char="•"/>
            </a:pPr>
            <a:r>
              <a:t>Existem limites de rendimento (8.º escalão IRS) e valor do imóvel (€450.000).</a:t>
            </a:r>
          </a:p>
          <a:p>
            <a:pPr marL="285750" indent="-285750">
              <a:buFont typeface="Arial"/>
              <a:buChar char="•"/>
            </a:pPr>
            <a:r>
              <a:t>Oferece isenção de IMT e Imposto do Selo em certas condições.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
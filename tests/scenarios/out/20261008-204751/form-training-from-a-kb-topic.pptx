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estarão aptos a compreender a essência deste regime. Vamos focar-nos nos requisitos, nos benefícios fiscais e nos processos de candidatura. O objetivo é que saiam daqui com um conhecimento sólido sobre este produto financeiro.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exatamente o Crédito Habitação Jovem. É um regime específico desenhado para apoiar jovens no acesso à habitação. É importante notar a sua base legal e o seu principal benefício.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claramente direcionado a jovens, com um limite de idade de 35 anos. A sua criação está formalizada por diplomas específicos. O grande atrativo é o financiamento total, eliminando a necessidade de entrada inicial, graças à garantia do Estado.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passar aos requisitos. É crucial que os candidatos cumpram todos os critérios de elegibilidade. Vamos rever a idade, o domicílio fiscal e os limites de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bem definidos. A idade e o domicílio fiscal são básicos. No que toca a rendimentos, o limite do 8.º escalão é rigoroso, sendo 80.000€ para um indivíduo. Além disso, o valor do imóvel tem um teto de 450.000 euros e deve ser para a primeira habitação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aborda os benefícios tangíveis e como a garantia do Estado funciona na prática. Vamos ver as isenções fiscais e como o Estado atua como fiador para permitir o financiamento máximo.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do Estado é limitada a 15% do valor da transação, o que permite atingir 100% de financiamento. Além disso, há um benefício fiscal importante: isenção de IMT e Imposto do Selo até um valor específico do imóvel. As operações mantêm um pricing definido no quadrante de 65-85%.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duas fases principais: a criação da proposta e o enquadramento. Vamos detalhar a documentação exigida em cada uma destas etapas para garantir que todos compreendem o fluxo de trabalho.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sequencial. Primeiro, submete-se a proposta com documentos pessoais e fiscais. Depois, no enquadramento, são necessárias certidões do imóvel e de dívidas. É relevante saber que o Banco CTT já aderiu a este protocolo desde 2 de outubro de 2024.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finalizar, vamos tratar de cenários específicos. Isto inclui as regras para clientes estrangeiros e a função do Crédito Sinal Jovem, que complementa o crédito principal.</a:t>
            </a:r>
          </a:p>
          <a:p/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clientes estrangeiros, a exigência de um título de residência temporária válido há pelo menos três anos é um ponto chave. O Crédito Sinal Jovem é uma ferramenta complementar, pois financia o sinal e o princípio de pagamento, integrando-se no crédito principal sem hipoteca.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três questões. A resposta à primeira é 80.000 euros. A segunda é a garantia do Estado. E a terceira exige Certidão predial, Certidão Predial Negativa, Certidão de não dívida (AT e SS), e o documento do valor de aquisição.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instrumento poderoso para jovens. Permite financiamento total com a segurança da Garantia do Estado. Não se esqueçam dos benefícios fiscais associados e da importância de cumprir rigorosamente os requisitos de documentação em ambas as fases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este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e as condições operacionais.</a:t>
            </a:r>
          </a:p>
          <a:p>
            <a:pPr marL="285750" indent="-285750">
              <a:buFont typeface="Arial"/>
              <a:buChar char="•"/>
            </a:pPr>
            <a:r>
              <a:t>Saber quais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a natureza e o propósito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para jovens com idade de até 35 anos.</a:t>
            </a:r>
          </a:p>
          <a:p>
            <a:pPr marL="285750" indent="-285750">
              <a:buFont typeface="Arial"/>
              <a:buChar char="•"/>
            </a:pPr>
            <a:r>
              <a:t>Foi criado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Regulamentado pela Portaria n.º 236-A/2024/1, de 27 de setembro.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Conta com a garantia do Estado.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Detalhar quem pode aceder ao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Idade entre 18 e 35 anos, e domicílio fiscal em Portugal.</a:t>
            </a:r>
          </a:p>
          <a:p>
            <a:pPr marL="285750" indent="-285750">
              <a:buFont typeface="Arial"/>
              <a:buChar char="•"/>
            </a:pPr>
            <a:r>
              <a:t>Rendimentos não podem exceder o 8.º escalão do IRS.</a:t>
            </a:r>
          </a:p>
          <a:p>
            <a:pPr marL="285750" indent="-285750">
              <a:buFont typeface="Arial"/>
              <a:buChar char="•"/>
            </a:pPr>
            <a:r>
              <a:t>Limite do 8.º escalão: 80.000€ por mutuário individual.</a:t>
            </a:r>
          </a:p>
          <a:p>
            <a:pPr marL="285750" indent="-285750">
              <a:buFont typeface="Arial"/>
              <a:buChar char="•"/>
            </a:pPr>
            <a:r>
              <a:t>Para dois mutuários, o limite é de 160.000€.</a:t>
            </a:r>
          </a:p>
          <a:p>
            <a:pPr marL="285750" indent="-285750">
              <a:buFont typeface="Arial"/>
              <a:buChar char="•"/>
            </a:pPr>
            <a:r>
              <a:t>O valor da transação não pode ultrapassar 450.000,00€.</a:t>
            </a:r>
          </a:p>
          <a:p>
            <a:pPr marL="285750" indent="-285750">
              <a:buFont typeface="Arial"/>
              <a:buChar char="•"/>
            </a:pPr>
            <a:r>
              <a:t>O 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e Operacionalização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os benefícios fiscais e o papel da garantia do Estado.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garantia do Estado não excede 15% do valor da transação.</a:t>
            </a:r>
          </a:p>
          <a:p>
            <a:pPr marL="285750" indent="-285750">
              <a:buFont typeface="Arial"/>
              <a:buChar char="•"/>
            </a:pPr>
            <a:r>
              <a:t>Permite financiamento de 100% ou &gt;= 85% do valor.</a:t>
            </a:r>
          </a:p>
          <a:p>
            <a:pPr marL="285750" indent="-285750">
              <a:buFont typeface="Arial"/>
              <a:buChar char="•"/>
            </a:pPr>
            <a:r>
              <a:t>Isenção de IMT e Imposto do Selo na primeira habitação.</a:t>
            </a:r>
          </a:p>
          <a:p>
            <a:pPr marL="285750" indent="-285750">
              <a:buFont typeface="Arial"/>
              <a:buChar char="•"/>
            </a:pPr>
            <a:r>
              <a:t>Válido para imóveis até 330.539 euros.</a:t>
            </a:r>
          </a:p>
          <a:p>
            <a:pPr marL="285750" indent="-285750">
              <a:buFont typeface="Arial"/>
              <a:buChar char="•"/>
            </a:pPr>
            <a:r>
              <a:t>As operações têm pricing no quadrante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e Benefícios Fiscais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5000"/>
          </a:bodyPr>
          <a:lstStyle/>
          <a:p>
            <a:r>
              <a:t>Entender as etapas e a documentação necessária para submeter o pedido.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aferição de elegibilidade ocorre em duas fases: Proposta e Enquadramento.</a:t>
            </a:r>
          </a:p>
          <a:p>
            <a:pPr marL="285750" indent="-285750">
              <a:buFont typeface="Arial"/>
              <a:buChar char="•"/>
            </a:pPr>
            <a:r>
              <a:t>Para a proposta: Formulário de adesão, Declaração de IRS, Nota de liquidação de IRS, Cartão de cidadão.</a:t>
            </a:r>
          </a:p>
          <a:p>
            <a:pPr marL="285750" indent="-285750">
              <a:buFont typeface="Arial"/>
              <a:buChar char="•"/>
            </a:pPr>
            <a:r>
              <a:t>Para enquadramento: Certidão predial, Certidão Predial Negativa, Certidão de não dívida (AT e SS), valor de aquisição.</a:t>
            </a:r>
          </a:p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e Etapas do Processo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Específicos e Complementos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Abordar situações particulares como clientes estrangeiros e o Crédito Sinal Jovem.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Clientes estrangeiros precisam de título de residência temporária com pelo menos 3 anos.</a:t>
            </a:r>
          </a:p>
          <a:p>
            <a:pPr marL="285750" indent="-285750">
              <a:buFont typeface="Arial"/>
              <a:buChar char="•"/>
            </a:pPr>
            <a:r>
              <a:t>Este título deve estar válido na data da análise; renovações em processo não são aceites.</a:t>
            </a:r>
          </a:p>
          <a:p>
            <a:pPr marL="285750" indent="-285750">
              <a:buFont typeface="Arial"/>
              <a:buChar char="•"/>
            </a:pPr>
            <a:r>
              <a:t>Crédito Sinal Jovem financia o sinal e princípio de pagamento.</a:t>
            </a:r>
          </a:p>
          <a:p>
            <a:pPr marL="285750" indent="-285750">
              <a:buFont typeface="Arial"/>
              <a:buChar char="•"/>
            </a:pPr>
            <a:r>
              <a:t>Este crédito é integrado no crédito habitação principal sem garantia hipotecária.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Regras para Estrangeiros e Crédito Sinal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rendimento do 8.º escalão do IRS para um mutuário individual?</a:t>
            </a:r>
          </a:p>
          <a:p>
            <a:pPr marL="285750" indent="-285750">
              <a:buFont typeface="Arial"/>
              <a:buChar char="•"/>
            </a:pPr>
            <a:r>
              <a:t>Que tipo de garantia é utilizada para permitir o financiamento de 100% do valor de aquisição?</a:t>
            </a:r>
          </a:p>
          <a:p>
            <a:pPr marL="285750" indent="-285750">
              <a:buFont typeface="Arial"/>
              <a:buChar char="•"/>
            </a:pPr>
            <a:r>
              <a:t>Que documentos são necessários para a fase de enquadramento da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CH Jovem apoia jovens (&lt;= 35 anos) com financiamento até 100% via Garantia do Estado.</a:t>
            </a:r>
          </a:p>
          <a:p>
            <a:pPr marL="285750" indent="-285750">
              <a:buFont typeface="Arial"/>
              <a:buChar char="•"/>
            </a:pPr>
            <a:r>
              <a:t>Existem limites claros de rendimento (8.º escalão) e valor da transação (450.000€).</a:t>
            </a:r>
          </a:p>
          <a:p>
            <a:pPr marL="285750" indent="-285750">
              <a:buFont typeface="Arial"/>
              <a:buChar char="•"/>
            </a:pPr>
            <a:r>
              <a:t>Os mutuários beneficiam de isenções fiscais (IMT/IS) em imóveis até 330.539€.</a:t>
            </a:r>
          </a:p>
          <a:p>
            <a:pPr marL="285750" indent="-285750">
              <a:buFont typeface="Arial"/>
              <a:buChar char="•"/>
            </a:pPr>
            <a:r>
              <a:t>O processo exige documentação específica para a proposta e para o enquadramento.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
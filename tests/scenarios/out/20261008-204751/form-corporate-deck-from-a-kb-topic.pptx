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foi desenhado especificamente para apoiar os jovens no acesso à habitação. O ponto mais importante é que permite financiar o valor total do imóvel, sem necessidade de entrada.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intervenção do Estado é crucial neste regime, pois garante que o financiamento atinge os 100%. O Estado assume parte do risco, cobrindo a diferença acima do LTV padrão.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critérios claros de elegibilidade que devem ser cumpridos. É fundamental verificar a sua idade, o seu domicílio fiscal e os limites de rendimento estabelecidos.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Além do financiamento vantajoso, este regime oferece benefícios fiscais importantes. Estes benefícios aplicam-se especificamente à aquisição da primeira habitação própria permanente.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é estruturado em fases claras. Deve começar pela criação da proposta, reunindo a documentação básica, e depois avançar para o enquadramento com os documentos do imóvel.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&gt; FAP - Ficha de Adesão ao Produto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CTT Bank está integrado neste regime desde outubro de 2024. Se for um cliente estrangeiro, lembre-se que o título de residência temporária deve estar válido na data da análise.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  <a:p>
            <a:r>
              <a:t>Fonte: 05 - Documentos Necessários · Documentos Necessários para o Crédito Habitação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clientes particulares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5000"/>
          </a:bodyPr>
          <a:lstStyle/>
          <a:p>
            <a:r>
              <a:t>Crédito Habitação Jovem: A Sua Oportunidade para Comprar Casa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É um regime de crédito habitação para jovens até aos 35 anos.</a:t>
            </a:r>
          </a:p>
          <a:p>
            <a:pPr marL="285750" indent="-285750">
              <a:buFont typeface="Arial"/>
              <a:buChar char="•"/>
            </a:pPr>
            <a:r>
              <a:t>Criado pelo Decreto-Lei n.º 44/2024, de 10 de julho.</a:t>
            </a:r>
          </a:p>
          <a:p>
            <a:pPr marL="285750" indent="-285750">
              <a:buFont typeface="Arial"/>
              <a:buChar char="•"/>
            </a:pPr>
            <a:r>
              <a:t>Permite financiar até 100% do valor de aquisição.</a:t>
            </a:r>
          </a:p>
          <a:p>
            <a:pPr marL="285750" indent="-285750">
              <a:buFont typeface="Arial"/>
              <a:buChar char="•"/>
            </a:pPr>
            <a:r>
              <a:t>Elimina a necessidade de capitais próprios para a entrada.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Um Regime Especial para Jovens Compradores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O Estado Português atua como fiador do empréstimo.</a:t>
            </a:r>
          </a:p>
          <a:p>
            <a:pPr marL="285750" indent="-285750">
              <a:buFont typeface="Arial"/>
              <a:buChar char="•"/>
            </a:pPr>
            <a:r>
              <a:t>Cobre a diferença entre 85% e os 100% financiados.</a:t>
            </a:r>
          </a:p>
          <a:p>
            <a:pPr marL="285750" indent="-285750">
              <a:buFont typeface="Arial"/>
              <a:buChar char="•"/>
            </a:pPr>
            <a:r>
              <a:t>A garantia do Estado não ultrapassa 15% do valor.</a:t>
            </a:r>
          </a:p>
          <a:p>
            <a:pPr marL="285750" indent="-285750">
              <a:buFont typeface="Arial"/>
              <a:buChar char="•"/>
            </a:pPr>
            <a:r>
              <a:t>Permite financiamento até 100% ou pelo menos 85%.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A Garantia do Estado Suporta o Seu Financiamento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Idade entre 18 e 35 anos e domicílio fiscal em Portugal.</a:t>
            </a:r>
          </a:p>
          <a:p>
            <a:pPr marL="285750" indent="-285750">
              <a:buFont typeface="Arial"/>
              <a:buChar char="•"/>
            </a:pPr>
            <a:r>
              <a:t>Rendimentos não podem exceder o 8.º escalão do IRS.</a:t>
            </a:r>
          </a:p>
          <a:p>
            <a:pPr marL="285750" indent="-285750">
              <a:buFont typeface="Arial"/>
              <a:buChar char="•"/>
            </a:pPr>
            <a:r>
              <a:t>Não ter propriedade anterior nem usar esta garantia do Estado.</a:t>
            </a:r>
          </a:p>
          <a:p>
            <a:pPr marL="285750" indent="-285750">
              <a:buFont typeface="Arial"/>
              <a:buChar char="•"/>
            </a:pPr>
            <a:r>
              <a:t>Valor da transação não pode ultrapassar €450.000,00.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Requisitos Essenciais para Ser Elegível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Isenção de IMT e Imposto do Selo aplicável.</a:t>
            </a:r>
          </a:p>
          <a:p>
            <a:pPr marL="285750" indent="-285750">
              <a:buFont typeface="Arial"/>
              <a:buChar char="•"/>
            </a:pPr>
            <a:r>
              <a:t>Benefício válido para compras até ao valor de €330.539.</a:t>
            </a:r>
          </a:p>
          <a:p>
            <a:pPr marL="285750" indent="-285750">
              <a:buFont typeface="Arial"/>
              <a:buChar char="•"/>
            </a:pPr>
            <a:r>
              <a:t>O crédito deve ser para primeira habitação própria permanente.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Benefícios Fiscais na Aquisição da Primeira Casa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A avaliação ocorre em duas fases: Proposta e Enquadramento.</a:t>
            </a:r>
          </a:p>
          <a:p>
            <a:pPr marL="285750" indent="-285750">
              <a:buFont typeface="Arial"/>
              <a:buChar char="•"/>
            </a:pPr>
            <a:r>
              <a:t>Para a proposta, precisa de formulário, IRS e domicílio fiscal.</a:t>
            </a:r>
          </a:p>
          <a:p>
            <a:pPr marL="285750" indent="-285750">
              <a:buFont typeface="Arial"/>
              <a:buChar char="•"/>
            </a:pPr>
            <a:r>
              <a:t>Para o enquadramento, são necessários certificados do Registo e Finanças.</a:t>
            </a:r>
          </a:p>
          <a:p>
            <a:pPr marL="285750" indent="-285750">
              <a:buFont typeface="Arial"/>
              <a:buChar char="•"/>
            </a:pPr>
            <a:r>
              <a:t>A FAP formaliza a candidatura, autorizando consulta de crédito.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Como Iniciar o Processo de Candidatura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O CTT Bank aderiu ao protocolo em 2 de outubro de 2024.</a:t>
            </a:r>
          </a:p>
          <a:p>
            <a:pPr marL="285750" indent="-285750">
              <a:buFont typeface="Arial"/>
              <a:buChar char="•"/>
            </a:pPr>
            <a:r>
              <a:t>As operações são precificadas no quadrante 65-85%.</a:t>
            </a:r>
          </a:p>
          <a:p>
            <a:pPr marL="285750" indent="-285750">
              <a:buFont typeface="Arial"/>
              <a:buChar char="•"/>
            </a:pPr>
            <a:r>
              <a:t>Para estrangeiros, é exigido título de residência temporária válido.</a:t>
            </a:r>
          </a:p>
          <a:p>
            <a:pPr marL="285750" indent="-285750">
              <a:buFont typeface="Arial"/>
              <a:buChar char="•"/>
            </a:pPr>
            <a:r>
              <a:t>O Serviço de Solicitadoria é opcional, mas aplicável por defeito.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Próximos Passos e Informação Adicional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
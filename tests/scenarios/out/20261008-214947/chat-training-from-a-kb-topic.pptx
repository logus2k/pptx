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focar-nos em dar-vos uma visão completa sobre o Crédito Habitação Jovem. Ao final, deverão ser capazes de explicar o que é este regime especial. Vamos detalhar os critérios de elegibilidade e como a garantia do Estado funciona na prática. Também abordaremos a documentação necessária para iniciar 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criado para apoiar os jovens no acesso à habitação. É importante saber que foi estabelecido pelo Decreto-Lei n.º 44/2024, de 10 de julho.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característica mais apelativa é a possibilidade de financiar até 100% do valor do imóvel, o que elimina a necessidade de capitais próprios para a entrada. O Estado Português entra em ação como fiador, cobrindo a diferença entre o LTV padrão de 85% e os 100% que é possível obter. Este regime foi criado pelo DL n.º 44/2024, de 10 de julho.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mergulhar nos critérios de elegibilidade. É fundamental que os candidatos cumpram todos os requisitos estabelecidos. Vamos ver quem pode candidatar-se e quais são os limites financeiros aplicáveis ao processo.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ter entre 18 e 35 anos e ser residente fiscal em Portugal. Além disso, o rendimento deve respeitar o limite do 8.º escalão do IRS. É crucial notar que não pode ter propriedade anterior nem ter utilizado esta garantia estatal. O valor máximo da transação é de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específicos: um mutuário pode ter até €80.000, e dois podem chegar a €160.000, considerando o quociente familiar. Há também uma isenção de IMT e Imposto do Selo para imóveis até €330.539. Para clientes estrangeiros, o requisito é ter um título de residência temporária válido há pelo menos 3 anos.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não é imediato; ele ocorre em fases. Vamos ver como é estruturada esta aferição. Também vamos detalhar a documentação que precisa de ser reunida em cada momento do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avaliação é feita em duas fases distintas: a Proposta de Risco e o Enquadramento da Proposta. É importante saber que as recusas só são emitidas após a submissão à análise de risco. O Serviço de Solicitadoria é opcional, mas é aplicado por defeito em processos de aquisição.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documentação varia consoante a fase. Para criar a proposta, precisa do formulário de adesão, da declaração de IRS e da certidão de domicílio fiscal. Já para o enquadramento da proposta, são necessários o registo predial, os certificados fiscais e a prova do valor de aquisição.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gostaria de fazer três perguntas. Qual é o limite de rendimento para dois mutuários? A resposta é até €160.000. Que documentos são necessários para o enquadramento? São o registo predial, certificados fiscais e prova de valor. E qual o papel do Estado? O Estado atua como fiador, cobrindo a diferença entre o LTV de 85% e os 100% de financiamento.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jovens, permitindo financiar até 100% com a garantia do Estado. Lembrem-se que existem critérios de elegibilidade bem definidos, como os limites de rendimento e o valor máximo do imóvel. O sucesso no processo depende da correta apresentação da documentação em cada fase.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Crédito Habitação Jovem.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do regime.</a:t>
            </a:r>
          </a:p>
          <a:p>
            <a:pPr marL="285750" indent="-285750">
              <a:buFont typeface="Arial"/>
              <a:buChar char="•"/>
            </a:pPr>
            <a:r>
              <a:t>Saber como funciona a garantia do Estado.</a:t>
            </a:r>
          </a:p>
          <a:p>
            <a:pPr marL="285750" indent="-285750">
              <a:buFont typeface="Arial"/>
              <a:buChar char="•"/>
            </a:pPr>
            <a:r>
              <a:t>Conhecer a documentação necessária para o processo.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especial de crédito habitação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especial para jovens com 35 anos ou menos.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compra, sem entrada.</a:t>
            </a:r>
          </a:p>
          <a:p>
            <a:pPr marL="285750" indent="-285750">
              <a:buFont typeface="Arial"/>
              <a:buChar char="•"/>
            </a:pPr>
            <a:r>
              <a:t>O Estado Português atua como fiador.</a:t>
            </a:r>
          </a:p>
          <a:p>
            <a:pPr marL="285750" indent="-285750">
              <a:buFont typeface="Arial"/>
              <a:buChar char="•"/>
            </a:pPr>
            <a:r>
              <a:t>Cobre a diferença entre o LTV normal (85%) e os 100%.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os requisitos para que os mutuários possam aceder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Requisitos Pessoais</a:t>
            </a:r>
          </a:p>
          <a:p>
            <a:r>
              <a:t>Idade entre 18 e 35 anos</a:t>
            </a:r>
          </a:p>
          <a:p>
            <a:r>
              <a:t>Residência fiscal em Portugal</a:t>
            </a:r>
          </a:p>
          <a:p>
            <a:r>
              <a:t>Não possuir propriedade anterior</a:t>
            </a:r>
          </a:p>
          <a:p>
            <a:r>
              <a:t>Não ter usado esta garantia estatal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Requisitos Financeiros e Transação</a:t>
            </a:r>
          </a:p>
          <a:p>
            <a:r>
              <a:t>Rendimento não ultrapassar 8.º escalão do IRS</a:t>
            </a:r>
          </a:p>
          <a:p>
            <a:r>
              <a:t>Valor da transação não exceder €450.000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de Rendimento e Isenções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Limites de Rendimento</a:t>
            </a:r>
          </a:p>
          <a:p>
            <a:r>
              <a:t>Um mutuário: até €80.000</a:t>
            </a:r>
          </a:p>
          <a:p>
            <a:r>
              <a:t>Dois mutuários: até €160.000 (por quociente familiar)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Condições Adicionais</a:t>
            </a:r>
          </a:p>
          <a:p>
            <a:r>
              <a:t>Isenção IMT/Imposto do Selo: imóveis até €330.539</a:t>
            </a:r>
          </a:p>
          <a:p>
            <a:r>
              <a:t>Estrangeiros: título de residência temporária válido há 3 anos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Aferição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de avaliação de elegibilidade.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da Avaliação de Elegibilidade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31773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Proposta de Risco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31773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Enquadramento de Proposta</a:t>
            </a:r>
          </a:p>
        </p:txBody>
      </p:sp>
      <p:cxnSp>
        <p:nvCxnSpPr>
          <p:cNvPr id="6" name="Connector 6"/>
          <p:cNvCxnSpPr>
            <a:stCxn id="4" idx="3"/>
            <a:endCxn id="5" idx="1"/>
          </p:cNvCxnSpPr>
          <p:nvPr/>
        </p:nvCxnSpPr>
        <p:spPr>
          <a:xfrm>
            <a:off x="5059680" y="3863181"/>
            <a:ext cx="207264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Para Criar a Proposta</a:t>
            </a:r>
          </a:p>
          <a:p>
            <a:r>
              <a:t>Formulário de adesão</a:t>
            </a:r>
          </a:p>
          <a:p>
            <a:r>
              <a:t>IRS</a:t>
            </a:r>
          </a:p>
          <a:p>
            <a:r>
              <a:t>Certidão de domicílio fiscal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Para Enquadrar a Proposta</a:t>
            </a:r>
          </a:p>
          <a:p>
            <a:r>
              <a:t>Certidão do registo predial</a:t>
            </a:r>
          </a:p>
          <a:p>
            <a:r>
              <a:t>Certificados fiscais (negativos e sem dívidas)</a:t>
            </a:r>
          </a:p>
          <a:p>
            <a:r>
              <a:t>Prova do valor de aquisição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o limite máximo de rendimento para dois mutuários no CH Jovem?</a:t>
            </a:r>
          </a:p>
          <a:p>
            <a:pPr marL="285750" indent="-285750">
              <a:buFont typeface="Arial"/>
              <a:buChar char="•"/>
            </a:pPr>
            <a:r>
              <a:t>Que tipo de documentos são necessários para o enquadramento da proposta?</a:t>
            </a:r>
          </a:p>
          <a:p>
            <a:pPr marL="285750" indent="-285750">
              <a:buFont typeface="Arial"/>
              <a:buChar char="•"/>
            </a:pPr>
            <a:r>
              <a:t>Qual é o papel do Estado neste regime de crédito?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CH Jovem é um regime para jovens (até 35 anos) com financiamento até 100%.</a:t>
            </a:r>
          </a:p>
          <a:p>
            <a:pPr marL="285750" indent="-285750">
              <a:buFont typeface="Arial"/>
              <a:buChar char="•"/>
            </a:pPr>
            <a:r>
              <a:t>O Estado garante a diferença do LTV, facilitando o acesso à habitação.</a:t>
            </a:r>
          </a:p>
          <a:p>
            <a:pPr marL="285750" indent="-285750">
              <a:buFont typeface="Arial"/>
              <a:buChar char="•"/>
            </a:pPr>
            <a:r>
              <a:t>Existem critérios rigorosos de elegibilidade, incluindo limites de rendimento e valor de transação.</a:t>
            </a:r>
          </a:p>
          <a:p>
            <a:pPr marL="285750" indent="-285750">
              <a:buFont typeface="Arial"/>
              <a:buChar char="•"/>
            </a:pPr>
            <a:r>
              <a:t>O processo exige documentação específica para 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
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Apresentação CTT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Bem-vindo à apresentação sobre os serviços CTT.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Vamos explorar as nossas soluções de logística e comunicação.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Objetivos: Apresentar os produtos e definir os próximos passos.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>
          <a:xfrm>
            <a:ext cx="0" cy="747712"/>
          </a:xfrm>
        </p:spPr>
        <p:txBody>
          <a:bodyPr/>
          <a:lstStyle/>
          <a:p>
            <a:r>
              <a:t>Crédito Habitação Obras: Financiamento para obras em imóveis destinados a HPP, HPS ou HA, limitado ao custo das obras com IVA incluído.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>
          <a:xfrm>
            <a:ext cx="0" cy="747712"/>
          </a:xfrm>
        </p:spPr>
        <p:txBody>
          <a:bodyPr/>
          <a:lstStyle/>
          <a:p>
            <a:r>
              <a:t>Regime e Finalidades dos Empréstimos: Engloba Crédito Habitação Geral (Aquisição, TOIC, Obras, Construção, Reforço) e Crédito Hipotecário (Complementar Isolado/Associado). Finalidades: HPP, HPS e HA.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9" sz="quarter"/>
          </p:nvPr>
        </p:nvSpPr>
        <p:spPr>
          <a:xfrm>
            <a:ext cx="0" cy="747712"/>
          </a:xfrm>
        </p:spPr>
        <p:txBody>
          <a:bodyPr/>
          <a:lstStyle/>
          <a:p>
            <a:r>
              <a:t>Servicing de Crédito Habitação: Procedimentos ao longo da vigência do contrato, formalizados nas Lojas BCTT (RR) e encaminhados para OPE/Finsolutia.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>
            <a:normAutofit fontScale="97500"/>
          </a:bodyPr>
          <a:lstStyle/>
          <a:p>
            <a:r>
              <a:t>Índice: Crédito à Habitação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5" sz="quarter"/>
          </p:nvPr>
        </p:nvSpPr>
        <p:spPr>
          <a:xfrm>
            <a:ext cx="0" cy="747712"/>
          </a:xfrm>
        </p:spPr>
        <p:txBody>
          <a:bodyPr/>
          <a:lstStyle/>
          <a:p>
            <a:r>
              <a:t>Fases do Processo de Crédito Habitação: O processo tem 7 fases, envolvendo RR, Finsolutia, CRE, OPE, Newspring Services, avaliadores externos e seguradora.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>
          <a:xfrm>
            <a:ext cx="0" cy="747712"/>
          </a:xfrm>
        </p:spPr>
        <p:txBody>
          <a:bodyPr/>
          <a:lstStyle/>
          <a:p>
            <a:r>
              <a:t>Crédito Bonificado à Habitação a Pessoa com Deficiência: Regime especial para pessoas com grau de incapacidade $\ge 60\%$, com condições específicas.</a:t>
            </a: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>
            <a:normAutofit fontScale="97500"/>
          </a:bodyPr>
          <a:lstStyle/>
          <a:p>
            <a:r>
              <a:t>Índice: Crédito à Habitação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
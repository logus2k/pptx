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os participantes estarão aptos a compreender o regime e os seus requisitos. Vamos focar-nos em saber o que é, quem pode aceder e como se candidatar. O nosso objetivo é dar-vos uma visão completa deste apoio.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que é este regime. É um apoio específico criado para facilitar o acesso à habitação a jovens. É importante entender a sua natureza e o seu propósito.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pelo Decreto-Lei n.º 44/2024, de 10 de julho, visando apoiar os jovens. A característica mais notável é que permite financiar até 100% do valor do imóvel. Isto significa que os mutuários não precisam de ter dinheiro para a entrada.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vamos falar sobre o papel do Estado. O Estado Português entra como fiador neste processo. Isto é crucial para permitir o financiamento total ou quase total do imóvel.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Estado Português funciona como fiador, cobrindo a diferença entre o LTV padrão de 85% e os 100% que o regime permite. Esta garantia não excede 15% do valor da transação. O CTT Bank, por exemplo, juntou-se ao protocolo em 2 de outubro de 2024.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 fundamental que os candidatos conheçam os critérios de elegibilidade. Existem requisitos de idade, residência e rendimento que devem ser cumpridos. Vamos rever estes pontos com atenção.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básicos incluem ter entre 18 e 35 anos e estar fiscalmente domiciliado em Portugal. É crucial que os rendimentos não ultrapassem o 8.º escalão do IRS. Além disso, não pode ter propriedade anterior e o valor da transação tem um limite máximo de €450.000.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limites de rendimento são específicos: €80.000 para um mutuário, ou €160.000 se forem dois. Há também uma isenção de IMT e Imposto do Selo para compras até €330.539. Para clientes estrangeiros, o título de residência temporária deve ter sido emitido há pelo menos 3 anos.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tem fases bem definidas. É importante saber que a avaliação ocorre em duas etapas. Além disso, a documentação varia consoante a fase do processo.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criar a proposta, precisa de documentos como o formulário de adesão e o comprovativo de domicílio fiscal. No enquadramento, são necessários os certificados do Registo e da Autoridade Tributária. Lembre-se que a avaliação do imóvel exige documentos recentes, com validade inferior a 12 meses para a Caderneta Predial.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  <a:p>
            <a:r>
              <a:t>Fonte: 05 - Documentos Necessários · Documentos Necessários para o Crédito Habitação &gt; Documentação para Avaliação do Imóvel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responder à primeira, a idade máxima é 35 anos. A isenção aplica-se até €330.539. Para a criação da proposta, são necessários o formulário de adesão, a declaração de IRS ou certificados de pensão, e o certificado de domicílio fiscal.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 apoio poderoso para jovens, permitindo financiar até 100% do imóvel. A Garantia do Estado é o pilar que torna isto possível. Contudo, é vital respeitar os limites de rendimento e valor. Por fim, lembrem-se de preparar toda a documentação necessária para cada fase do processo.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Compreender o que é o Crédito Habitação Jovem.</a:t>
            </a:r>
          </a:p>
          <a:p>
            <a:pPr marL="285750" indent="-285750">
              <a:buFont typeface="Arial"/>
              <a:buChar char="•"/>
            </a:pPr>
            <a:r>
              <a:t>Identificar os critérios de elegibilidade do regime.</a:t>
            </a:r>
          </a:p>
          <a:p>
            <a:pPr marL="285750" indent="-285750">
              <a:buFont typeface="Arial"/>
              <a:buChar char="•"/>
            </a:pPr>
            <a:r>
              <a:t>Saber como funciona a garantia do Estado.</a:t>
            </a:r>
          </a:p>
          <a:p>
            <a:pPr marL="285750" indent="-285750">
              <a:buFont typeface="Arial"/>
              <a:buChar char="•"/>
            </a:pPr>
            <a:r>
              <a:t>Conhecer a documentação necessária para a candidatura.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 que é o Crédito Habitação Jovem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Apresentar o regime de crédito habitação jovem.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É um regime especial para jovens com 35 anos ou menos.</a:t>
            </a:r>
          </a:p>
          <a:p>
            <a:pPr marL="285750" indent="-285750">
              <a:buFont typeface="Arial"/>
              <a:buChar char="•"/>
            </a:pPr>
            <a:r>
              <a:t>Foi estabelecido pelo Decreto-Lei n.º 44/2024, de 10 de julho.</a:t>
            </a:r>
          </a:p>
          <a:p>
            <a:pPr marL="285750" indent="-285750">
              <a:buFont typeface="Arial"/>
              <a:buChar char="•"/>
            </a:pPr>
            <a:r>
              <a:t>Permite financiar até 100% do valor de aquisição.</a:t>
            </a:r>
          </a:p>
          <a:p>
            <a:pPr marL="285750" indent="-285750">
              <a:buFont typeface="Arial"/>
              <a:buChar char="•"/>
            </a:pPr>
            <a:r>
              <a:t>Elimina a necessidade de os mutuários terem capitais próprios para a entrada.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Garantia do Estado e Financiamento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Explicar como a Garantia do Estado suporta o financiamento.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Função da Garantia Estatal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O Estado atua como fiador, cobrindo a diferença entre 85% e 100% do valor.</a:t>
            </a:r>
          </a:p>
          <a:p>
            <a:pPr marL="285750" indent="-285750">
              <a:buFont typeface="Arial"/>
              <a:buChar char="•"/>
            </a:pPr>
            <a:r>
              <a:t>A garantia do Estado não ultrapassa 15% do valor da transação.</a:t>
            </a:r>
          </a:p>
          <a:p>
            <a:pPr marL="285750" indent="-285750">
              <a:buFont typeface="Arial"/>
              <a:buChar char="•"/>
            </a:pPr>
            <a:r>
              <a:t>Permite financiamento até 100% ou, no mínimo, 85% do valor.</a:t>
            </a:r>
          </a:p>
          <a:p>
            <a:pPr marL="285750" indent="-285750">
              <a:buFont typeface="Arial"/>
              <a:buChar char="•"/>
            </a:pPr>
            <a:r>
              <a:t>O CTT Bank aderiu ao protocolo em 2 de outubro de 2024.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Detalhar os requisitos para aceder ao Crédito Habitação Jovem.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b="1"/>
              <a:t>Requisitos Pessoais</a:t>
            </a:r>
          </a:p>
          <a:p>
            <a:r>
              <a:t>Idade entre 18 e 35 anos</a:t>
            </a:r>
          </a:p>
          <a:p>
            <a:r>
              <a:t>Domicílio fiscal em Portugal</a:t>
            </a:r>
          </a:p>
          <a:p>
            <a:r>
              <a:t>Não possuir propriedade anterior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b="1"/>
              <a:t>Requisitos Financeiros e de Transação</a:t>
            </a:r>
          </a:p>
          <a:p>
            <a:r>
              <a:t>Rendimentos não exceder o 8.º escalão do IRS</a:t>
            </a:r>
          </a:p>
          <a:p>
            <a:r>
              <a:t>Não ter usado esta garantia do Estado</a:t>
            </a:r>
          </a:p>
          <a:p>
            <a:r>
              <a:t>Valor da transação não ultrapassar €450.000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Limites de Rendimento e Isenções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b="1"/>
              <a:t>Limites de Rendimento</a:t>
            </a:r>
          </a:p>
          <a:p>
            <a:r>
              <a:t>€80.000 para um mutuário</a:t>
            </a:r>
          </a:p>
          <a:p>
            <a:r>
              <a:t>€160.000 para dois mutuários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b="1"/>
              <a:t>Condições Adicionais</a:t>
            </a:r>
          </a:p>
          <a:p>
            <a:r>
              <a:t>Isenção de IMT/Imposto do Selo até €330.539</a:t>
            </a:r>
          </a:p>
          <a:p>
            <a:r>
              <a:t>Estrangeiros: título de residência temporária válido há 3 anos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Processo de Candidatura e Documentação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Entender as fases de avaliação e os documentos necessários.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Documentação para Criação e Enquadramento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Criação de Proposta: Formulário de adesão, IRS ou certificados de pensão, e domicílio fiscal.</a:t>
            </a:r>
          </a:p>
          <a:p>
            <a:pPr marL="285750" indent="-285750">
              <a:buFont typeface="Arial"/>
              <a:buChar char="•"/>
            </a:pPr>
            <a:r>
              <a:t>Enquadramento de Proposta: Certificados do Registo e Autoridade Tributária.</a:t>
            </a:r>
          </a:p>
          <a:p>
            <a:pPr marL="285750" indent="-285750">
              <a:buFont typeface="Arial"/>
              <a:buChar char="•"/>
            </a:pPr>
            <a:r>
              <a:t>O Serviço de Solicitadoria é opcional, mas aplicado por defeito em aquisições.</a:t>
            </a:r>
          </a:p>
          <a:p>
            <a:pPr marL="285750" indent="-285750">
              <a:buFont typeface="Arial"/>
              <a:buChar char="•"/>
            </a:pPr>
            <a:r>
              <a:t>Para avaliação do imóvel: Caderneta Predial &lt; 12 meses e Certidão de Teor &lt; 6 meses.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Verificação de Conhecimento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Qual é a idade máxima para beneficiar do Crédito Habitação Jovem?</a:t>
            </a:r>
          </a:p>
          <a:p>
            <a:pPr marL="285750" indent="-285750">
              <a:buFont typeface="Arial"/>
              <a:buChar char="•"/>
            </a:pPr>
            <a:r>
              <a:t>Qual é o valor máximo da transação para usufruir da isenção de IMT e Imposto do Selo?</a:t>
            </a:r>
          </a:p>
          <a:p>
            <a:pPr marL="285750" indent="-285750">
              <a:buFont typeface="Arial"/>
              <a:buChar char="•"/>
            </a:pPr>
            <a:r>
              <a:t>Que documentos são necessários para a criação inicial da proposta?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Pontos a Retirar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O CH Jovem é um regime para jovens (até 35 anos) com financiamento até 100%.</a:t>
            </a:r>
          </a:p>
          <a:p>
            <a:pPr marL="285750" indent="-285750">
              <a:buFont typeface="Arial"/>
              <a:buChar char="•"/>
            </a:pPr>
            <a:r>
              <a:t>O Estado garante a diferença, cobrindo até 15% do valor da transação.</a:t>
            </a:r>
          </a:p>
          <a:p>
            <a:pPr marL="285750" indent="-285750">
              <a:buFont typeface="Arial"/>
              <a:buChar char="•"/>
            </a:pPr>
            <a:r>
              <a:t>Existem limites de rendimento e valor de transação a cumprir.</a:t>
            </a:r>
          </a:p>
          <a:p>
            <a:pPr marL="285750" indent="-285750">
              <a:buFont typeface="Arial"/>
              <a:buChar char="•"/>
            </a:pPr>
            <a:r>
              <a:t>O processo exige documentação específica para a criação e enquadramento da proposta.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
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explicar o que é este regime especial. Vamos focar-nos nos requisitos, nos benefícios e no processo de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conhecer a sua origem e o seu propósito principal.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bastante vantajoso, pois permite financiar até 100% do valor do imóvel. Isto significa que não precisam de ter um valor de entrada significativo. O Estado Português entra como fiador, garantindo a cobertura da diferença entre o LTV padrão de 85% e os 100% que podem obter.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passar aos critérios de elegibilidade. É fundamental que os candidatos compreendam quem pode beneficiar deste apoio. Existem requisitos de idade, residência e rendimento que devem ser cumpridos.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idade entre 18 e 35 anos e domicílio fiscal em Portugal. Quanto aos rendimentos, o limite é definido pelo 8.º escalão do IRS. Para um indivíduo, este limite é de €80.000, e para um casal, atinge os €160.000.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há limites para o imóvel e para a transação. O valor da transação não pode exceder €450.000 e deve ser para a primeira habitação permanente. Um benefício fiscal importante é a isenção de IMT e Imposto do Selo, mas esta só se aplica a imóveis até €330.539.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várias etapas, desde a proposta inicial até ao enquadramento final. É crucial saber que a avaliação ocorre em duas fases distintas. Vamos rever a documentação necessária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divide-se em duas partes documentais. Na criação da proposta, precisam de fornecer o formulário de adesão, a declaração de IRS e o certificado de domicílio fiscal. Posteriormente, para o enquadramento, são necessários documentos do imóvel, como a certidão do registo predial e os certificados negativos da AT e SS.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é um processo em duas etapas, e é importante notar que as recusas só ocorrem após a submissão ao risco. A garantia do Estado tem um limite de 15% do valor da transação. Além disso, o CTT Bank juntou-se ao protocolo em outubro de 2024, e as simulações permitem verificar LTVs superiores a 85%.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abordar agora dois pontos mais específicos: os clientes estrangeiros e a formalização do pedido. Para estrangeiros, há requisitos adicionais de residência. Em termos de formalização, a FAP é o documento chave que consolida a candidatura.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os clientes estrangeiros, o requisito é ter um título de residência temporária emitido há pelo menos três anos. É crucial que este título esteja válido no momento da análise do crédito. As renovações que ainda estão em processo não são consideradas válidas para este fim.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FAP é o documento que formaliza a vossa candidatura, contendo dados do imóvel e autorizações necessárias. Embora o Serviço de Solicitadoria seja opcional, ele é aplicado por defeito em processos de aquisição. Certifiquem-se de que a FAP está devidamente preenchida.</a:t>
            </a:r>
          </a:p>
          <a:p/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respondam a estas três perguntas. O limite de rendimento individual é de €80.000. Os benefícios fiscais incluem isenção de IMT e Imposto do Selo para imóveis até €330.539. As duas fases de avaliação são a Proposta de Risco e o Enquadramento da Proposta.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robusto que permite financiar 100% do imóvel, graças à garantia do Estado. Lembrem-se dos critérios de elegibilidade, como a idade e o limite de rendimentos. Não se esqueçam dos benefícios fiscais importantes. E, claro, o sucesso depende da correta apresentação da documentação em todas as fases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o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fiscais associados à aquisição.</a:t>
            </a:r>
          </a:p>
          <a:p>
            <a:pPr marL="285750" indent="-285750">
              <a:buFont typeface="Arial"/>
              <a:buChar char="•"/>
            </a:pPr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35 anos ou menos.</a:t>
            </a:r>
          </a:p>
          <a:p>
            <a:pPr marL="285750" indent="-285750">
              <a:buFont typeface="Arial"/>
              <a:buChar char="•"/>
            </a:pPr>
            <a:r>
              <a:t>Foi estabelecido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compra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fiador, cobrindo a diferença entre 85% e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candidatos devem cumprir para aceder ao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 obrigatório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 não pode exceder o 8.º escalão do IRS</a:t>
            </a:r>
          </a:p>
          <a:p>
            <a:r>
              <a:t>Limite individual: €80.000</a:t>
            </a:r>
          </a:p>
          <a:p>
            <a:r>
              <a:t>Limite para dois mutuários: €160.000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valor da transação não pode ultrapassar €450.000 para acesso à garantia pública.</a:t>
            </a:r>
          </a:p>
          <a:p>
            <a:pPr marL="285750" indent="-285750">
              <a:buFont typeface="Arial"/>
              <a:buChar char="•"/>
            </a:pPr>
            <a:r>
              <a:t>O crédito deve ser para a aquisição da primeira habitação permanente.</a:t>
            </a:r>
          </a:p>
          <a:p>
            <a:pPr marL="285750" indent="-285750">
              <a:buFont typeface="Arial"/>
              <a:buChar char="•"/>
            </a:pPr>
            <a:r>
              <a:t>Os mutuários beneficiam de isenção de IMT e Imposto do Selo.</a:t>
            </a:r>
          </a:p>
          <a:p>
            <a:pPr marL="285750" indent="-285750">
              <a:buFont typeface="Arial"/>
              <a:buChar char="•"/>
            </a:pPr>
            <a:r>
              <a:t>Esta isenção aplica-se a imóveis de valor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a documentação necessária para submeter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Enquadramento da Proposta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Criação da Proposta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Criação e Enquadramento da Proposta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Formulário de adesão</a:t>
            </a:r>
          </a:p>
          <a:p>
            <a:r>
              <a:t>Declaração de IRS ou certificados</a:t>
            </a:r>
          </a:p>
          <a:p>
            <a:r>
              <a:t>Certificado de domicílio fiscal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Certidão do registo predial</a:t>
            </a:r>
          </a:p>
          <a:p>
            <a:r>
              <a:t>Certificado negativo da AT</a:t>
            </a:r>
          </a:p>
          <a:p>
            <a:r>
              <a:t>Certificados de não-dívida da AT e 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elegibilidade é avaliada em duas fases: Proposta de Risco e Enquadramento da Proposta.</a:t>
            </a:r>
          </a:p>
          <a:p>
            <a:pPr marL="285750" indent="-285750">
              <a:buFont typeface="Arial"/>
              <a:buChar char="•"/>
            </a:pPr>
            <a:r>
              <a:t>As cartas de recusa são emitidas apenas para propostas submetidas ao risco.</a:t>
            </a:r>
          </a:p>
          <a:p>
            <a:pPr marL="285750" indent="-285750">
              <a:buFont typeface="Arial"/>
              <a:buChar char="•"/>
            </a:pPr>
            <a:r>
              <a:t>A garantia pessoal do Estado não excede 15% do valor da transação.</a:t>
            </a:r>
          </a:p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Simulações CH Jovem permitem selecionar a bandeira 'SIM' para LTVs acima de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Avaliação e Operacionalização da Garantia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Casos Específicos: Estrangeiros e Formalização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Abordar as particularidades para clientes estrangeiros e a formalização da candidatura.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Para estrangeiros, é necessário ter título de residência temporária.</a:t>
            </a:r>
          </a:p>
          <a:p>
            <a:pPr marL="285750" indent="-285750">
              <a:buFont typeface="Arial"/>
              <a:buChar char="•"/>
            </a:pPr>
            <a:r>
              <a:t>Este título deve ter sido emitido há pelo menos 3 anos.</a:t>
            </a:r>
          </a:p>
          <a:p>
            <a:pPr marL="285750" indent="-285750">
              <a:buFont typeface="Arial"/>
              <a:buChar char="•"/>
            </a:pPr>
            <a:r>
              <a:t>O título de residência deve estar válido na data da análise.</a:t>
            </a:r>
          </a:p>
          <a:p>
            <a:pPr marL="285750" indent="-285750">
              <a:buFont typeface="Arial"/>
              <a:buChar char="•"/>
            </a:pPr>
            <a:r>
              <a:t>Renovações em curso não são aceites para a análise.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para Clientes Estrangeiros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FAP (Ficha de Adesão ao Produto) formaliza a candidatura.</a:t>
            </a:r>
          </a:p>
          <a:p>
            <a:pPr marL="285750" indent="-285750">
              <a:buFont typeface="Arial"/>
              <a:buChar char="•"/>
            </a:pPr>
            <a:r>
              <a:t>A FAP inclui dados do imóvel e autorização para consulta de crédito.</a:t>
            </a:r>
          </a:p>
          <a:p>
            <a:pPr marL="285750" indent="-285750">
              <a:buFont typeface="Arial"/>
              <a:buChar char="•"/>
            </a:pPr>
            <a:r>
              <a:t>O Serviço de Solicitadoria é opcional, mas aplicado por defeito em aquisições.</a:t>
            </a:r>
          </a:p>
          <a:p>
            <a:pPr marL="285750" indent="-285750">
              <a:buFont typeface="Arial"/>
              <a:buChar char="•"/>
            </a:pPr>
            <a:r>
              <a:t>A FAP é um documento essencial para a formalização do pedido.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Formalização da Candidatura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rendimento para um mutuário individual no 8.º escalão do IRS?</a:t>
            </a:r>
          </a:p>
          <a:p>
            <a:pPr marL="285750" indent="-285750">
              <a:buFont typeface="Arial"/>
              <a:buChar char="•"/>
            </a:pPr>
            <a:r>
              <a:t>Que benefícios fiscais são aplicáveis à compra da primeira habitação até um certo valor?</a:t>
            </a:r>
          </a:p>
          <a:p>
            <a:pPr marL="285750" indent="-285750">
              <a:buFont typeface="Arial"/>
              <a:buChar char="•"/>
            </a:pPr>
            <a:r>
              <a:t>Quais são os dois tipos de fases de avaliação da elegibilidade?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Permite financiar até 100% do imóvel</a:t>
            </a:r>
          </a:p>
          <a:p>
            <a:r>
              <a:t>Com o Estado como fiador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Financiamento e Garantia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Idade (18-35 anos)</a:t>
            </a:r>
          </a:p>
          <a:p>
            <a:r>
              <a:t>Domicílio fiscal e rendimentos limitados</a:t>
            </a:r>
          </a:p>
          <a:p>
            <a:r>
              <a:t>Benefícios fiscais (IMT/IS) para imóveis até €330.539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Requisitos e Benefícios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Exige documentação específica</a:t>
            </a:r>
          </a:p>
          <a:p>
            <a:r>
              <a:t>Para criação e enquadramento da proposta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Processo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
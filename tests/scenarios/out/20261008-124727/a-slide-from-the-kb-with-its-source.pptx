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A garantia é prestada pelo Estado Português, cobrindo a diferença entre o LTV máximo (85%) e os 100% do valor de aquisição.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A garantia pessoal do Estado não ultrapasse 15% do valor da transação do prédio urbano ou de fração autónoma de prédio urbano.</a:t>
            </a:r>
          </a:p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04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tenha(m) entre 18 e 35 anos de idade.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nunca tenha(m) usufruído da garantia pessoal do Estado ao abrigo do Decreto-Lei n.º 44/2024, de 10 de julho.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9" sz="quarter"/>
          </p:nvPr>
        </p:nvSpPr>
        <p:spPr>
          <a:xfrm>
            <a:ext cx="0" cy="747712"/>
          </a:xfrm>
        </p:spPr>
        <p:txBody>
          <a:bodyPr/>
          <a:lstStyle/>
          <a:p>
            <a:r>
              <a:t>O(s) mutuário(s) do contrato usufruam de rendimentos que não ultrapassem o 8.º escalão do imposto sobre o rendimento das pessoas singulares (IRS).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65000"/>
          </a:bodyPr>
          <a:lstStyle/>
          <a:p>
            <a:r>
              <a:t>Condições de Elegibilidade do Crédito Habitação Jovem</a:t>
            </a:r>
          </a:p>
        </p:txBody>
      </p:sp>
      <p:sp>
        <p:nvSpPr>
          <p:cNvPr id="23" name="Text Placeholder 22"/>
          <p:cNvSpPr>
            <a:spLocks noGrp="1"/>
          </p:cNvSpPr>
          <p:nvPr>
            <p:ph type="body" idx="35" sz="quarter"/>
          </p:nvPr>
        </p:nvSpPr>
        <p:spPr/>
        <p:txBody>
          <a:bodyPr/>
          <a:lstStyle/>
          <a:p>
            <a:r>
              <a:t>O(s) mutuário(s) tenham domicílio fiscal em Portugal.</a:t>
            </a:r>
          </a:p>
        </p:txBody>
      </p:sp>
      <p:sp>
        <p:nvSpPr>
          <p:cNvPr id="24" name="Text Placeholder 23"/>
          <p:cNvSpPr>
            <a:spLocks noGrp="1"/>
          </p:cNvSpPr>
          <p:nvPr>
            <p:ph type="body" idx="36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25" name="Text Placeholder 24"/>
          <p:cNvSpPr>
            <a:spLocks noGrp="1"/>
          </p:cNvSpPr>
          <p:nvPr>
            <p:ph type="body" idx="37" sz="quarter"/>
          </p:nvPr>
        </p:nvSpPr>
        <p:spPr/>
        <p:txBody>
          <a:bodyPr/>
          <a:lstStyle/>
          <a:p>
            <a:r>
              <a:t>O valor da transação não exceda 450.000,00 euros.</a:t>
            </a:r>
          </a:p>
        </p:txBody>
      </p:sp>
      <p:sp>
        <p:nvSpPr>
          <p:cNvPr id="26" name="Text Placeholder 25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" name="Text Placeholder 7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 crédito se destine a primeira aquisição de habitação própria permanente.</a:t>
            </a:r>
          </a:p>
        </p:txBody>
      </p:sp>
      <p:sp>
        <p:nvSpPr>
          <p:cNvPr id="22" name="Title 21"/>
          <p:cNvSpPr>
            <a:spLocks noGrp="1"/>
          </p:cNvSpPr>
          <p:nvPr>
            <p:ph type="title"/>
          </p:nvPr>
        </p:nvSpPr>
        <p:spPr/>
        <p:txBody>
          <a:bodyPr>
            <a:normAutofit fontScale="65000"/>
          </a:bodyPr>
          <a:lstStyle/>
          <a:p>
            <a:r>
              <a:t>Condições de Elegibilidade do 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
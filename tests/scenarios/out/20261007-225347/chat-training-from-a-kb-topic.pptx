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sessão, vamos focar-nos em capacitar todos os formadores sobre o Crédito Habitação Jovem com Garantia do Estado. Ao final, deverão ser capazes de explicar o conceito, os requisitos e o processo de candidatura. Vamos detalhar cada aspeto para garantir uma transmissão de conhecimento completa e precisa.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Começamos por definir o que é este crédito. É um instrumento criado especificamente para apoiar os jovens no acesso à habitação. Vamos ver como ele funciona na prática, especialmente no que toca à eliminação de barreiras financeiras iniciais.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crédito é um apoio direcionado, focado em jovens até aos 35 anos, conforme estabelecido pelo DL n.º 44/2024. O aspeto mais revolucionário é que permite financiar 100% do valor, o que significa que os mutuários não precisam de ter dinheiro para a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que se financia até 100%, é crucial entender como isso é possível. O Estado entra em cena como fiador, assumindo parte do risco que normalmente seria suportado pelo mutuário ou pelo banco.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papel do Estado é cobrir a diferença entre o LTV padrão de 85% e os 100% que o regime permite. Esta garantia não excede 15% do valor da transação. É importante notar que o CTT Bank já faz parte deste protocolo desde outubro de 2024.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secção é vital. Precisamos de ser muito claros sobre quem se qualifica. Os critérios abrangem idade, residência fiscal e, muito importante, os limites de rendimento e propriedade prévia.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a idade e o estatuto de residente fiscal. Há restrições importantes, como não possuir bens anteriores e o valor máximo da transação. Os limites de rendimento são específicos: €80.000 para um, ou €160.000 para dois mutuários.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benefícios de financiamento, há vantagens fiscais significativas para a primeira habitação, até um certo valor. Para os cidadãos estrangeiros, existem requisitos adicionais rigorosos, nomeadamente um título de residência temporário válido e com um histórico mínimo de três anos.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não é imediato; envolve etapas de avaliação. É fundamental que os formadores saibam quais os documentos necessários em cada fase, seja para criar a proposta ou para a sua análise final.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estruturado em duas etapas distintas. É importante salientar que a recusa só é formalizada após a proposta ser submetida à análise de risco. Para iniciar, o mutuário precisa de reunir documentos como o formulário de adesão e a declaração de IRS.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o foco muda para os documentos do imóvel, como os certificados de registo e fiscais. A FAP é o documento chave que formaliza a candidatura. Lembrem-se que o Serviço de Solicitadoria, embora opcional, é aplicado por defeito em aquisições.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idade máxima é 35 anos. A garantia do Estado não pode exceder 15% do valor da transação. Para o enquadramento, são necessários os certificados do Registo e da Autoridade Tributária.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este é um programa robusto de apoio à habitação jovem. O ponto central é o financiamento total, possibilitado pela garantia estatal. Lembrem-se sempre de verificar os limites de rendimento e os requisitos documentais para cada fase do processo. Este conhecimento permite-vos aconselhar os clientes com confiança.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do Treino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 com Garantia do Estado.</a:t>
            </a:r>
          </a:p>
          <a:p>
            <a:r>
              <a:t>Identificar os critérios de elegibilidade para este regime.</a:t>
            </a:r>
          </a:p>
          <a:p>
            <a:r>
              <a:t>Conhecer os procedimentos e documentação necessária para a candidatura.</a:t>
            </a:r>
          </a:p>
          <a:p>
            <a:r>
              <a:t>Saber como o Estado atua como fiador neste processo.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Conceito do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e os seus benefícios principais.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Fundamentais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Destinado a jovens com idade de 35 anos ou menos.</a:t>
            </a:r>
          </a:p>
          <a:p>
            <a:r>
              <a:t>Estabelecido pelo Decreto-Lei n.º 44/2024, de 10 de julho.</a:t>
            </a:r>
          </a:p>
          <a:p>
            <a:r>
              <a:t>Permite financiar até 100% do valor de compra do imóvel.</a:t>
            </a:r>
          </a:p>
          <a:p>
            <a:r>
              <a:t>Elimina a necessidade de os mutuários terem capitais próprios para a entrada.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Garantia do Estado e Financiamento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Explicar o papel do Estado como fiador e o impacto no LTV.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Funciona a Garantia Estatal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Estado garante a diferença entre o LTV usual (85%) e os 100% de financiamento.</a:t>
            </a:r>
          </a:p>
          <a:p>
            <a:r>
              <a:t>A garantia do Estado não ultrapassa 15% do valor da transação.</a:t>
            </a:r>
          </a:p>
          <a:p>
            <a:r>
              <a:t>Isto permite o financiamento até 100% ou, no mínimo, 85% do valor.</a:t>
            </a:r>
          </a:p>
          <a:p>
            <a:r>
              <a:t>O CTT Bank aderiu ao protocolo em 2 de outubro de 2024.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quem pode aceder ao benefício e quais são as restrições.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anos, e ser residente fiscal em Portugal.</a:t>
            </a:r>
          </a:p>
          <a:p>
            <a:r>
              <a:t>Não possuir propriedade anterior nem ter usado esta garantia estatal.</a:t>
            </a:r>
          </a:p>
          <a:p>
            <a:r>
              <a:t>O valor da transação não pode exceder €450.000.</a:t>
            </a:r>
          </a:p>
          <a:p>
            <a:r>
              <a:t>Rendimento máximo: €80.000 para um mutuário ou €160.000 para dois.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Fiscais e Estrangeiros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Isenção de IMT e Imposto do Selo para imóveis até €330.539.</a:t>
            </a:r>
          </a:p>
          <a:p>
            <a:r>
              <a:t>Para estrangeiros, é necessário título de residência temporária há 3 anos.</a:t>
            </a:r>
          </a:p>
          <a:p>
            <a:r>
              <a:t>Este título deve estar válido na data da análise; renovações em processo não são aceites.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fases de avaliação e os documentos necessários para avançar.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de Avaliação e Documentos Iniciais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avaliação ocorre em duas fases: Proposta de Risco e Enquadramento da Proposta.</a:t>
            </a:r>
          </a:p>
          <a:p>
            <a:r>
              <a:t>As cartas de recusa são emitidas apenas após a submissão à análise de risco.</a:t>
            </a:r>
          </a:p>
          <a:p>
            <a:r>
              <a:t>Para criar a proposta, são necessários o formulário de adesão, IRS e certificado de domicílio fiscal.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Enquadramento e Candidatura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 enquadrar a proposta, são exigidos certificados do Registo e da Autoridade Tributária.</a:t>
            </a:r>
          </a:p>
          <a:p>
            <a:r>
              <a:t>É necessário um documento que ateste o valor de compra (ex: CPCV ou FAP).</a:t>
            </a:r>
          </a:p>
          <a:p>
            <a:r>
              <a:t>A FAP formaliza a candidatura, incluindo dados do imóvel e autorização de crédito.</a:t>
            </a:r>
          </a:p>
          <a:p>
            <a:r>
              <a:t>O Serviço de Solicitadoria é opcional, mas aplicado por defeito em aquisições.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a idade máxima para beneficiar do Crédito Habitação Jovem?</a:t>
            </a:r>
          </a:p>
          <a:p>
            <a:r>
              <a:t>Que percentagem do valor da transação a garantia do Estado não pode exceder?</a:t>
            </a:r>
          </a:p>
          <a:p>
            <a:r>
              <a:t>Quais são os dois tipos de documentos necessários para o enquadramento da proposta?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Resumo: Pontos Chave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apoia jovens (até 35 anos) com financiamento de até 100%.</a:t>
            </a:r>
          </a:p>
          <a:p>
            <a:r>
              <a:t>O Estado garante a diferença de LTV, cobrindo até 15% do valor.</a:t>
            </a:r>
          </a:p>
          <a:p>
            <a:r>
              <a:t>Existem limites de rendimento e valor de transação a cumprir.</a:t>
            </a:r>
          </a:p>
          <a:p>
            <a:r>
              <a:t>O processo exige documentação específica em fases de proposta e enquadramento.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
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estarão aptos a compreender a natureza deste regime especial. Vamos focar-nos nos objetivos principais: entender o que é, quem pode aceder, quais os benefícios e como iniciar o processo. Este conhecimento é crucial para aconselhar os nossos clientes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desenhado especificamente para apoiar os jovens no acesso à habitação. É importante notar que este regime foi estabelecido por um diploma legal específico.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específico, sendo destinado a jovens com idade máxima de 35 anos. A sua base legal é o Decreto-Lei n.º 44/2024, de 10 de julho. O grande atrativo é que permite financiar 100% do valor do imóvel, o que significa que não precisam de ter dinheiro para a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segundo módulo foca-se na garantia do Estado. Este é um pilar fundamental do regime. O Estado Português entra em ação para cobrir a diferença entre o financiamento padrão e o 100% que este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funciona como fiador, garantindo a parte que excede o LTV usual de 85% até atingir os 100%. É importante saber que esta garantia não pode ultrapassar 15% do valor da transação. O CTT Bank, por exemplo, aderiu a este protocolo em 2 de outubro de 2024, e as operações são precificadas no quadrante de 65-85%.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módulo é essencial para saber quem pode beneficiar. Vamos rever os critérios de elegibilidade. Estes requisitos abrangem idade, residência fiscal, situação patrimonial e rendimentos. É preciso cumprir todos os pontos para ser elegível.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entre 18 e 35 anos, e o domicílio fiscal em Portugal. Os limites de rendimento são rigorosos: €80.000 para um mutuário, e €160.000 para dois, calculados pelo coeficiente familiar. Além disso, é crucial que o mutuário não seja proprietário anterior nem tenha usado esta garantia 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da transação, que não pode ultrapassar €450.000, e o crédito deve ser para a primeira habitação permanente. Um benefício fiscal importante é a isenção de IMT e Imposto do Selo até €330.539. Para clientes estrangeiros, um requisito adicional é o título de residência temporária válido há pelo menos três anos.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Vamos ver como funciona a avaliação da elegibilidade e que documentos são necessários em cada etapa. É um processo estruturado que exige atenção aos detalhes.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passa por duas etapas: a Proposta de Risco e o Enquadramento da Proposta. É importante saber que a recusa só ocorre após a submissão ao risco. Para criar a proposta, precisa de formulário de adesão, IRS e certificado de domicílio fiscal. Para enquadrar, são necessários os certificados do Registo e da Autoridade Tributária, além de um documento com o valor de aquisição, como o CPCV.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documentos principais, para a criação da proposta, são necessários o BI/NIF e a última declaração de IRS. O serviço de solicitadoria é opcional, mas é aplicado por defeito em aquisições. Para estrangeiros, o título de residência temporária deve estar válido há pelo menos três anos e ter de estar válido na data da análise, não aceitando renovações em curso.</a:t>
            </a:r>
          </a:p>
          <a:p/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idade máxima é de 35 anos. O regime permite financiar até 100% do valor de aquisição. Para o enquadramento da proposta, são necessários os certificados do Registo e da Autoridade Tributária, juntamente com um documento que indique o valor de aquisição, como o CPCV.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Ele permite financiar o imóvel até 100% graças à garantia do Estado. Lembrem-se sempre de verificar os critérios de elegibilidade, como idade e rendimentos. Por fim, o processo é rigoroso e requer a submissão de documentação específica em fases bem definidas.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do regime.</a:t>
            </a:r>
          </a:p>
          <a:p>
            <a:pPr marL="285750" indent="-285750">
              <a:buFont typeface="Arial"/>
              <a:buChar char="•"/>
            </a:pPr>
            <a:r>
              <a:t>Conhecer os benefícios e isenções aplicáveis.</a:t>
            </a:r>
          </a:p>
          <a:p>
            <a:pPr marL="285750" indent="-285750">
              <a:buFont typeface="Arial"/>
              <a:buChar char="•"/>
            </a:pPr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Definição e Enquadramento Legal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de crédito habitação para jovens até aos 35 anos.</a:t>
            </a:r>
          </a:p>
          <a:p>
            <a:pPr marL="285750" indent="-285750">
              <a:buFont typeface="Arial"/>
              <a:buChar char="•"/>
            </a:pPr>
            <a:r>
              <a:t>Foi estabelecido pelo Decreto-Lei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aquisição do imóvel.</a:t>
            </a:r>
          </a:p>
          <a:p>
            <a:pPr marL="285750" indent="-285750">
              <a:buFont typeface="Arial"/>
              <a:buChar char="•"/>
            </a:pPr>
            <a:r>
              <a:t>Elimina a necessidade de os mutuários terem capitais próprios para a entrada.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Garantia do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o papel do Estado como fiador neste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 a Garantia Estatal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Função do Estado: Atua como fiador</a:t>
            </a:r>
            <a:br/>
            <a:r>
              <a:t>Cobre a diferença entre 85% e 100% do valor</a:t>
            </a:r>
          </a:p>
          <a:p>
            <a:r>
              <a:t>Limites da Garantia: Não ultrapassa 15% do valor da transação</a:t>
            </a:r>
            <a:br/>
            <a:r>
              <a:t>Permite financiamento de 85% a 100% do valor</a:t>
            </a:r>
          </a:p>
          <a:p>
            <a:r>
              <a:t>Adesão CTT Bank: Aderiu ao protocolo em 2 de outubro de 2024</a:t>
            </a:r>
            <a:br/>
            <a:r>
              <a:t>Operações precificadas no quadrante de 65-85%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Revisar os requisitos que os mutuários devem cumprir para aceder ao regime.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Pessoais</a:t>
            </a:r>
          </a:p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possuir propriedade anterior</a:t>
            </a:r>
          </a:p>
          <a:p>
            <a:r>
              <a:t>Não ter usado esta garantia do Estado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Requisitos Financeiros</a:t>
            </a:r>
          </a:p>
          <a:p>
            <a:r>
              <a:t>Rendimentos não exceder o 8.º escalão do IRS</a:t>
            </a:r>
          </a:p>
          <a:p>
            <a:r>
              <a:t>Limite de rendimento: até €80.000 (mutuário único)</a:t>
            </a:r>
          </a:p>
          <a:p>
            <a:r>
              <a:t>Limite de rendimento: até €160.000 (dois mutuários)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valor da transação não pode exceder €450.000,00.</a:t>
            </a:r>
          </a:p>
          <a:p>
            <a:pPr marL="285750" indent="-285750">
              <a:buFont typeface="Arial"/>
              <a:buChar char="•"/>
            </a:pPr>
            <a:r>
              <a:t>O crédito deve ser para a primeira habitação própria permanente.</a:t>
            </a:r>
          </a:p>
          <a:p>
            <a:pPr marL="285750" indent="-285750">
              <a:buFont typeface="Arial"/>
              <a:buChar char="•"/>
            </a:pPr>
            <a:r>
              <a:t>Há isenção de IMT e Imposto do Selo até €330.539.</a:t>
            </a:r>
          </a:p>
          <a:p>
            <a:pPr marL="285750" indent="-285750">
              <a:buFont typeface="Arial"/>
              <a:buChar char="•"/>
            </a:pPr>
            <a:r>
              <a:t>Para estrangeiros, é necessário título de residência temporária válido há 3 anos.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Compreender as fases e a documentação necessária para submeter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da Avaliação e Documentação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Proposta de Risco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3177381"/>
            <a:ext cx="34137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Enquadramento da Proposta</a:t>
            </a:r>
          </a:p>
        </p:txBody>
      </p:sp>
      <p:cxnSp>
        <p:nvCxnSpPr>
          <p:cNvPr id="6" name="Connector 6"/>
          <p:cNvCxnSpPr>
            <a:stCxn id="4" idx="3"/>
            <a:endCxn id="5" idx="1"/>
          </p:cNvCxnSpPr>
          <p:nvPr/>
        </p:nvCxnSpPr>
        <p:spPr>
          <a:xfrm>
            <a:off x="5059680" y="3863181"/>
            <a:ext cx="207264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Adicional e Opções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Requisitos Gerais</a:t>
            </a:r>
          </a:p>
          <a:p>
            <a:r>
              <a:t>BI/NIF e última Declaração de Rendimentos (IRS) para criar proposta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b="1"/>
              <a:t>Condições Específicas</a:t>
            </a:r>
          </a:p>
          <a:p>
            <a:r>
              <a:t>Serviço de Solicitadoria: opcional, mas aplicado por defeito em aquisições</a:t>
            </a:r>
          </a:p>
          <a:p>
            <a:r>
              <a:t>Estrangeiros: obrigatório título de residência temporária válido há 3 anos e válido na data da análise (renovações em processo não aceites)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a idade máxima para beneficiar do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percentagem do valor de aquisição pode ser financiada com esta garantia?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O CH Jovem é um regime para jovens (até 35 anos) que permite financiar até 100% do imóvel.</a:t>
            </a:r>
          </a:p>
          <a:p>
            <a:pPr marL="285750" indent="-285750">
              <a:buFont typeface="Arial"/>
              <a:buChar char="•"/>
            </a:pPr>
            <a:r>
              <a:t>O Estado atua como fiador, cobrindo a diferença do LTV padrão.</a:t>
            </a:r>
          </a:p>
          <a:p>
            <a:pPr marL="285750" indent="-285750">
              <a:buFont typeface="Arial"/>
              <a:buChar char="•"/>
            </a:pPr>
            <a:r>
              <a:t>Os critérios incluem idade, domicílio fiscal e limites de rendimento específicos.</a:t>
            </a:r>
          </a:p>
          <a:p>
            <a:pPr marL="285750" indent="-285750">
              <a:buFont typeface="Arial"/>
              <a:buChar char="•"/>
            </a:pPr>
            <a:r>
              <a:t>O processo exige documentação detalhada em fases de Proposta de Risco e Enquadramento.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
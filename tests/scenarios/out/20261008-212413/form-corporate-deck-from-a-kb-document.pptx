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O grande benefício é que permite financiar até 100% do valor do imóvel, dispensando a necessidade de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garantia do Estado é o pilar deste regime, pois cobre a diferença entre o LTV padrão de 85% e os 100% que o regime permite. Isto torna o acesso ao crédito muito mais viável para os jovens.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critérios de elegibilidade são bem definidos, focando-se na idade e na capacidade financeira. É importante notar o limite de rendimento do 8.º escalão, que varia consoante o número de mutuários.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financiamento, existem benefícios fiscais importantes para a primeira habitação. O valor máximo da transação e a natureza da habitação são requisitos cruciais para a aplicação destes benefícios.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é estruturado em duas etapas distintas, garantindo uma análise rigorosa. É fundamental preparar toda a documentação necessária para cada fase, desde a adesão até ao enquadramento da proposta.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concretizar este financiamento, é importante saber que instituições como o Banco CTT já aderiram ao protocolo. Sugerimos que os interessados comecem por reunir toda a documentação exigida para a criação da proposta.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Oportunidade para Jovens Compradores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Regime especial para jovens até aos 35 anos.</a:t>
            </a:r>
          </a:p>
          <a:p>
            <a:pPr marL="285750" indent="-285750">
              <a:buFont typeface="Arial"/>
              <a:buChar char="•"/>
            </a:pPr>
            <a:r>
              <a:t>Criado pelo Decreto-Lei n.º 44/2024, de 10 de julho.</a:t>
            </a:r>
          </a:p>
          <a:p>
            <a:pPr marL="285750" indent="-285750">
              <a:buFont typeface="Arial"/>
              <a:buChar char="•"/>
            </a:pPr>
            <a:r>
              <a:t>Permite financiamento de até 100% do valor do imóvel.</a:t>
            </a:r>
          </a:p>
          <a:p>
            <a:pPr marL="285750" indent="-285750">
              <a:buFont typeface="Arial"/>
              <a:buChar char="•"/>
            </a:pPr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Estado Português atua como fiador do empréstimo.</a:t>
            </a:r>
          </a:p>
          <a:p>
            <a:pPr marL="285750" indent="-285750">
              <a:buFont typeface="Arial"/>
              <a:buChar char="•"/>
            </a:pPr>
            <a:r>
              <a:t>Cobre a diferença entre 85% e 100% do valor.</a:t>
            </a:r>
          </a:p>
          <a:p>
            <a:pPr marL="285750" indent="-285750">
              <a:buFont typeface="Arial"/>
              <a:buChar char="•"/>
            </a:pPr>
            <a:r>
              <a:t>A garantia não excede 15% do valor da transação.</a:t>
            </a:r>
          </a:p>
          <a:p>
            <a:pPr marL="285750" indent="-285750">
              <a:buFont typeface="Arial"/>
              <a:buChar char="•"/>
            </a:pPr>
            <a:r>
              <a:t>Permite financiamento de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Funciona a Garantia do Estado?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Requisitos Financeiros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Requisitos Pessoais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Quem Pode Aceder ao Regime?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Idade entre 18 e 35 anos</a:t>
            </a:r>
          </a:p>
          <a:p>
            <a:r>
              <a:t>Residente fiscal em Portugal</a:t>
            </a:r>
          </a:p>
          <a:p>
            <a:r>
              <a:t>Não possuir propriedade anterior nem usar esta garantia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Rendimentos não exceder o 8.º escalão do IRS</a:t>
            </a:r>
          </a:p>
          <a:p>
            <a:r>
              <a:t>Limite individual: €80.000</a:t>
            </a:r>
          </a:p>
          <a:p>
            <a:r>
              <a:t>Limite para dois: €160.000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Isenção de IMT e Imposto do Selo até €330.539.</a:t>
            </a:r>
          </a:p>
          <a:p>
            <a:pPr marL="285750" indent="-285750">
              <a:buFont typeface="Arial"/>
              <a:buChar char="•"/>
            </a:pPr>
            <a:r>
              <a:t>Valor da transação não pode ultrapassar €450.000.</a:t>
            </a:r>
          </a:p>
          <a:p>
            <a:pPr marL="285750" indent="-285750">
              <a:buFont typeface="Arial"/>
              <a:buChar char="•"/>
            </a:pPr>
            <a:r>
              <a:t>Crédito deve ser para primeira habitação própria permanente.</a:t>
            </a:r>
          </a:p>
          <a:p>
            <a:pPr marL="285750" indent="-285750">
              <a:buFont typeface="Arial"/>
              <a:buChar char="•"/>
            </a:pPr>
            <a:r>
              <a:t>O Crédito Sinal Jovem integra o crédito principal.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e Limites de Transação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Elegibilidade e Documentação Necessária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9923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Fase Proposta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7204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Fase Enquadramento</a:t>
            </a:r>
          </a:p>
        </p:txBody>
      </p:sp>
      <p:cxnSp>
        <p:nvCxnSpPr>
          <p:cNvPr id="9" name="Connector 9"/>
          <p:cNvCxnSpPr>
            <a:stCxn id="7" idx="3"/>
            <a:endCxn id="8" idx="1"/>
          </p:cNvCxnSpPr>
          <p:nvPr/>
        </p:nvCxnSpPr>
        <p:spPr>
          <a:xfrm>
            <a:off x="4703683" y="2809081"/>
            <a:ext cx="150352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Banco CTT aderiu ao protocolo em 2 de outubro de 2024.</a:t>
            </a:r>
          </a:p>
          <a:p>
            <a:pPr marL="285750" indent="-285750">
              <a:buFont typeface="Arial"/>
              <a:buChar char="•"/>
            </a:pPr>
            <a:r>
              <a:t>As operações são precificadas no quadrante 65-85%.</a:t>
            </a:r>
          </a:p>
          <a:p>
            <a:pPr marL="285750" indent="-285750">
              <a:buFont typeface="Arial"/>
              <a:buChar char="•"/>
            </a:pPr>
            <a:r>
              <a:t>Apoio de instituições como o CTT facilita o acesso.</a:t>
            </a:r>
          </a:p>
          <a:p>
            <a:pPr marL="285750" indent="-285750">
              <a:buFont typeface="Arial"/>
              <a:buChar char="•"/>
            </a:pPr>
            <a:r>
              <a:t>Recomendamos iniciar com a preparação da documentação completa.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Parcerias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
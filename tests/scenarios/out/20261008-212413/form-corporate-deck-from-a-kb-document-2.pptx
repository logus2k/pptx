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jovens no acesso à habitação. A principal vantagem é que permite financiar até 100% do valor do imóvel, dispensando a necessidade de entrada inicial.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intervenção do Estado é crucial neste regime, atuando como fiador. Esta garantia permite que os mutuários acedam a financiamentos mais elevados, cobrindo a diferença necessária.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a elegibilidade, focados na idade e nos rendimentos dos jovens. É importante notar que o valor máximo da transação está limitado a 450.000 euros.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os mutuários beneficiam de isenções fiscais na compra. Os rendimentos são avaliados em dois momentos distintos, e há também uma opção de crédito sinal integrado.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exige documentação específica em duas fases: Proposta a Risco e Enquadramento de Proposta. É importante saber que o Banco CTT já aderiu a este protocolo.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avançar, é fundamental verificar se se enquadra nos critérios estabelecidos e preparar toda a documentação exigida. Este regime oferece um apoio significativo para quem procura a primeira habitação.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Apoio à Aquisição da Primeira Habitação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Regime para jovens com idade de até 35 anos.</a:t>
            </a:r>
          </a:p>
          <a:p>
            <a:pPr marL="285750" indent="-285750">
              <a:buFont typeface="Arial"/>
              <a:buChar char="•"/>
            </a:pPr>
            <a:r>
              <a:t>Criado pelo DL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financiamento de até 100% do valor de aquisição.</a:t>
            </a:r>
          </a:p>
          <a:p>
            <a:pPr marL="285750" indent="-285750">
              <a:buFont typeface="Arial"/>
              <a:buChar char="•"/>
            </a:pPr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Estado Português atua como fiador do crédito.</a:t>
            </a:r>
          </a:p>
          <a:p>
            <a:pPr marL="285750" indent="-285750">
              <a:buFont typeface="Arial"/>
              <a:buChar char="•"/>
            </a:pPr>
            <a:r>
              <a:t>Cobre a diferença entre LTV máximo (85%) e 100%.</a:t>
            </a:r>
          </a:p>
          <a:p>
            <a:pPr marL="285750" indent="-285750">
              <a:buFont typeface="Arial"/>
              <a:buChar char="•"/>
            </a:pPr>
            <a:r>
              <a:t>A garantia pessoal do Estado não excede 15% da transação.</a:t>
            </a:r>
          </a:p>
          <a:p>
            <a:pPr marL="285750" indent="-285750">
              <a:buFont typeface="Arial"/>
              <a:buChar char="•"/>
            </a:pPr>
            <a:r>
              <a:t>Visa viabilizar financiamento de 100% ou &gt;=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Garantia do Estado?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Limites Financeiros e Propósito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Requisitos Pessoais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 Limites do Regime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Idade entre 18 e 35 anos</a:t>
            </a:r>
          </a:p>
          <a:p>
            <a:r>
              <a:t>Domicílio fiscal em Portugal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Rendimentos não superiores ao 8.º escalão do IRS</a:t>
            </a:r>
          </a:p>
          <a:p>
            <a:r>
              <a:t>Valor da transação não pode exceder 450.000,00 euros</a:t>
            </a:r>
          </a:p>
          <a:p>
            <a:r>
              <a:t>Crédito para primeira habitação própria permanente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Limites de Rendimento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Benefícios Fiscais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e Limites de Rendimento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Isenção de IMT e Imposto do Selo até 330.539 euros.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Limite do 8.º escalão do IRS: 80.000€ (individual) ou 160.000€ (dois).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Para Enquadramento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Para Proposta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Candidatura: Documentação Necessária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Formulário</a:t>
            </a:r>
          </a:p>
          <a:p>
            <a:r>
              <a:t>Declaração de IRS</a:t>
            </a:r>
          </a:p>
          <a:p>
            <a:r>
              <a:t>Nota de liquidação</a:t>
            </a:r>
          </a:p>
          <a:p>
            <a:r>
              <a:t>Cartão de cidadão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Certidão predial</a:t>
            </a:r>
          </a:p>
          <a:p>
            <a:r>
              <a:t>Certidão Negativa</a:t>
            </a:r>
          </a:p>
          <a:p>
            <a:r>
              <a:t>Certidão de não dívida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Verificar se cumpre os critérios de idade e rendimento.</a:t>
            </a:r>
          </a:p>
          <a:p>
            <a:pPr marL="285750" indent="-285750">
              <a:buFont typeface="Arial"/>
              <a:buChar char="•"/>
            </a:pPr>
            <a:r>
              <a:t>Reunir a documentação necessária para Proposta e Enquadramento.</a:t>
            </a:r>
          </a:p>
          <a:p>
            <a:pPr marL="285750" indent="-285750">
              <a:buFont typeface="Arial"/>
              <a:buChar char="•"/>
            </a:pPr>
            <a:r>
              <a:t>Aproveitar a isenção fiscal na aquisição da primeira casa.</a:t>
            </a:r>
          </a:p>
          <a:p>
            <a:pPr marL="285750" indent="-285750">
              <a:buFont typeface="Arial"/>
              <a:buChar char="•"/>
            </a:pPr>
            <a:r>
              <a:t>Consultar as condições específicas do Banco CTT.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Considerações Finais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
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 com Garantia do Estado. Ao final, vocês serão capazes de compreender a essência deste regime. Vamos focar-nos em saber quem pode aceder, quais são os passos e quais os benefícios que este crédito oferece aos jovens compradores de casa.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produto financeiro. É um regime específico criado para apoiar os jovens no acesso à habitação própria permanente. É importante entender a sua base legal e o seu principal objetivo.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cerne do produto. O foco principal é a facilitação do acesso à casa para os jovens. A garantia do Estado é o elemento chave que permite o financiamento total. Lembrem-se também da possibilidade de incluir um crédito sinal integrado.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entrar nos requisitos. Não basta ser jovem; há condições financeiras e de residência que devem ser cumpridas. Vou detalhar os critérios de idade, domicílio 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idade, residência e capacidade financeira. É crucial notar o limite de rendimento, que varia consoante o número de mutuários. Estes valores são o teto para a elegibilidade.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existem limites no valor do imóvel e benefícios fiscais diretos. A isenção de impostos é um incentivo muito relevante para os compradores. A garantia do Estado funciona como um complemento ao LTV padrão.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não é imediato; ele passa por etapas de avaliação. Vamos ver como funciona a submissão e que papéis são necessários em cada fase. A documentação é rigorosa e deve ser preparada com antecedência.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importante saber que a rejeição só ocorre após a análise de risco, o que dá alguma segurança ao processo. A criação da proposta exige documentos pessoais e fiscais básicos. Estes são os primeiros passos formais.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Após a fase inicial, o foco muda para a análise do imóvel. Aqui entram os documentos que atestam a situação legal e fiscal do bem. Estes documentos garantem que o imóvel está livre de ônus.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finalizar a parte técnica, olhando para como a garantia funciona na prática e quais as instituições que fazem parte deste protocolo. A parceria com bancos é fundamental para a concretização do crédito.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operacionalização envolve parcerias bancárias, como a do CTT Bank. É importante notar que, embora o regime permita 100%, a estrutura de preços opera num intervalo específico. Isto mostra a integração do Estado no mercado financeiro.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pergunta é 35 anos ou menos. Para a segunda, o limite é de €80.000. E para a terceira, são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este é um instrumento poderoso de apoio à habitação jovem. O ponto mais forte é a capacidade de financiar 100% com a garantia do Estado. Lembrem-se sempre de verificar os limites de rendimento e os requisitos documentais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 com Garantia do Estado.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este regime.</a:t>
            </a:r>
          </a:p>
          <a:p>
            <a:pPr marL="285750" indent="-285750">
              <a:buFont typeface="Arial"/>
              <a:buChar char="•"/>
            </a:pPr>
            <a:r>
              <a:t>Conhecer os procedimentos e documentação necessários para a candidatura.</a:t>
            </a:r>
          </a:p>
          <a:p>
            <a:pPr marL="285750" indent="-285750">
              <a:buFont typeface="Arial"/>
              <a:buChar char="•"/>
            </a:pPr>
            <a:r>
              <a:t>Saber sobre os benefícios fiscais associados a esta linha de crédito.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a natureza e o propósito do Crédito Habitação Jovem com Garantia do Estado.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Destinado a jovens com 35 anos ou menos, estabelecido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aquisição, eliminando a necessidade de entrada.</a:t>
            </a:r>
          </a:p>
          <a:p>
            <a:pPr marL="285750" indent="-285750">
              <a:buFont typeface="Arial"/>
              <a:buChar char="•"/>
            </a:pPr>
            <a:r>
              <a:t>O Estado atua como fiador, cobrindo a diferença entre o LTV usual (85%) e os 100% de financiamento.</a:t>
            </a:r>
          </a:p>
          <a:p>
            <a:pPr marL="285750" indent="-285750">
              <a:buFont typeface="Arial"/>
              <a:buChar char="•"/>
            </a:pPr>
            <a:r>
              <a:t>O regime inclui o Crédito Sinal Jovem, um crédito de curto prazo integrado sem dupla tributação.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beneficiar do Crédito Habitação Jovem com Garantia do Estado.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Requisitos Pessoais</a:t>
            </a:r>
          </a:p>
          <a:p>
            <a:r>
              <a:t>Idade entre 18 e 35 anos</a:t>
            </a:r>
          </a:p>
          <a:p>
            <a:r>
              <a:t>Domicílio fiscal em Portugal obrigatório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Requisitos Financeiros</a:t>
            </a:r>
          </a:p>
          <a:p>
            <a:r>
              <a:t>Rendimentos não podem exceder o 8.º escalão do IRS</a:t>
            </a:r>
          </a:p>
          <a:p>
            <a:r>
              <a:t>Limite individual: €80.000</a:t>
            </a:r>
          </a:p>
          <a:p>
            <a:r>
              <a:t>Limite para dois mutuários: €160.000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Limites da Transação</a:t>
            </a:r>
          </a:p>
          <a:p>
            <a:r>
              <a:t>Valor máximo da transação para garantia: €450.000</a:t>
            </a:r>
          </a:p>
          <a:p>
            <a:r>
              <a:t>Garantia do Estado: não excede 15% do valor da transação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Benefícios e Financiamento</a:t>
            </a:r>
          </a:p>
          <a:p>
            <a:r>
              <a:t>Isenção de IMT e Imposto do Selo para imóveis até €330.539</a:t>
            </a:r>
          </a:p>
          <a:p>
            <a:r>
              <a:t>Permite financiar até 100% ou, no mínimo, 85% do valor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os documentos necessários para formalizar o pedido.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da Avaliação da Elegibilidade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1: Proposta de Risco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2: Enquadramento de Proposta</a:t>
            </a:r>
          </a:p>
        </p:txBody>
      </p:sp>
      <p:cxnSp>
        <p:nvCxnSpPr>
          <p:cNvPr id="6" name="Connector 6"/>
          <p:cNvCxnSpPr>
            <a:stCxn id="4" idx="3"/>
            <a:endCxn id="5" idx="1"/>
          </p:cNvCxnSpPr>
          <p:nvPr/>
        </p:nvCxnSpPr>
        <p:spPr>
          <a:xfrm>
            <a:off x="5059680" y="3863181"/>
            <a:ext cx="20726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Para o enquadramento, são exigidos o certificado do registo predial.</a:t>
            </a:r>
          </a:p>
          <a:p>
            <a:pPr marL="285750" indent="-285750">
              <a:buFont typeface="Arial"/>
              <a:buChar char="•"/>
            </a:pPr>
            <a:r>
              <a:t>É necessário o certificado negativo de propriedade junto da AT.</a:t>
            </a:r>
          </a:p>
          <a:p>
            <a:pPr marL="285750" indent="-285750">
              <a:buFont typeface="Arial"/>
              <a:buChar char="•"/>
            </a:pPr>
            <a:r>
              <a:t>Também são necessários certificados de inexistência de dívidas.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Operacionalização e Parcerias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Compreender como a garantia do Estado é operacionalizada e as entidades envolvidas.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Operacional da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de CH Jovem utilizam um quadrante de preços de 65-85%.</a:t>
            </a:r>
          </a:p>
          <a:p>
            <a:pPr marL="285750" indent="-285750">
              <a:buFont typeface="Arial"/>
              <a:buChar char="•"/>
            </a:pPr>
            <a:r>
              <a:t>A garantia do Estado permite financiar até 100% ou, no mínimo, 85% do valor.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a idade máxima para beneficiar do Crédito Habitação Jovem?</a:t>
            </a:r>
          </a:p>
          <a:p>
            <a:pPr marL="285750" indent="-285750">
              <a:buFont typeface="Arial"/>
              <a:buChar char="•"/>
            </a:pPr>
            <a:r>
              <a:t>Qual é o limite máximo de rendimento para um mutuário individual no 8.º escalão do IRS?</a:t>
            </a:r>
          </a:p>
          <a:p>
            <a:pPr marL="285750" indent="-285750">
              <a:buFont typeface="Arial"/>
              <a:buChar char="•"/>
            </a:pPr>
            <a:r>
              <a:t>Que dois documentos são necessários para a criação da proposta de crédito?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Acesso e Financiamento</a:t>
            </a:r>
          </a:p>
          <a:p>
            <a:r>
              <a:t>Facilita acesso à casa para jovens (até 35 anos)</a:t>
            </a:r>
          </a:p>
          <a:p>
            <a:r>
              <a:t>Financiamento até 100% com garantia do Estado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Requisitos e Processo</a:t>
            </a:r>
          </a:p>
          <a:p>
            <a:r>
              <a:t>Cobre a diferença, eliminando necessidade de entrada</a:t>
            </a:r>
          </a:p>
          <a:p>
            <a:r>
              <a:t>Existem limites de rendimento e valor de transação</a:t>
            </a:r>
          </a:p>
          <a:p>
            <a:r>
              <a:t>Exige documentação específica em fases de criação e enquadramento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
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mergulhar no Crédito Habitação Jovem. Ao final, vocês serão capazes de explicar o que é este regime especial. Vamos focar-nos em quem pode aceder, quais são os passos e como a garantia do Estado funciona para facilitar a compra da primeira casa.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Este é um regime especial criado para apoiar os jovens no acesso à habitação. É importante entender a sua natureza e o que o torna um apoio significativo.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foi criado especificamente para jovens, com um limite de idade de 35 anos. O ponto mais relevante é que permite financiar 100% do valor do imóvel, eliminando a necessidade de capital próprio para a entrada. O Estado garante a diferença, cobrindo o risco entre os 85% normais e os 100% que se financiam.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 que sabemos o que é o crédito, precisamos de saber quem pode beneficiar dele. Os critérios de elegibilidade são rigorosos e envolvem idade, residência e capacidade financeira. Vamos rever estes pontos com atenção.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incluem a idade, entre 18 e 35 anos, e estar fiscalmente domiciliado em Portugal. Em termos de rendimento, o limite é de €80.000 para um mutuário, podendo chegar a €160.000 para dois, aplicando o quociente familiar. É crucial também não possuir bens imóveis anteriormente.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limites claros para o valor do imóvel, que não pode exceder €450.000, e deve ser para a primeira habitação permanente. Além disso, há benefícios fiscais importantes: isenção de IMT e Imposto do Selo até um valor específico. A garantia do Estado tem um limite máximo de 15% do valor da transação.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passa por várias etapas, desde a proposta inicial até ao enquadramento final. É fundamental saber que a avaliação ocorre em duas fases distintas. Vamos detalhar a documentação exigida para cada fase.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é feito em duas etapas: a Proposta de Risco e o Enquadramento da Proposta. É importante notar que a recusa só acontece depois de a proposta ser submetida ao risco. Para iniciar, precisa do formulário de adesão e do certificado de domicílio fiscal, juntamente com a documentação de IRS.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fase de enquadramento, os certificados do Registo e da Autoridade Tributária são essenciais, tal como um documento que confirme o valor de aquisição, como o CPCV. A FAP é o documento que formaliza tudo. Informamos que o CTT Bank aderiu ao protocolo em 2 de outubro de 2024, e as operações são precificadas dentro da faixa de 65 a 85%.</a:t>
            </a:r>
          </a:p>
          <a:p/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Embora o foco principal seja em cidadãos portugueses, é importante saber como o regime se aplica a estrangeiros. Existem requisitos específicos que devem ser cumpridos por estes candidatos, nomeadamente relacionados com a sua situação de residência.</a:t>
            </a:r>
          </a:p>
          <a:p/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os clientes estrangeiros, o requisito chave é ter um título de residência temporária válido há, no mínimo, três anos. É crucial que este título esteja válido no momento da análise; renovações que ainda estão em curso não são aceites. É importante lembrar que a isenção fiscal aplica-se a imóveis até €330.539, independentemente da nacionalidade.</a:t>
            </a:r>
          </a:p>
          <a:p/>
          <a:p>
            <a:r>
              <a:t>Fonte: 16 - Oferta Estrangeiros no Crédito Habitação · Oferta Estrangeiros no Crédito Habitação - https://logus2k.com/cortex/?open=ch&amp;path=CH%2F16%20-%20Oferta%20Estrangeiros%20no%20Cr%C3%A9dito%20Habita%C3%A7%C3%A3o.docx&amp;page=1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testar o que aprendemos. A idade máxima é de 35 anos. A garantia do Estado permite financiar até 100% do valor de aquisição, cobrindo a diferença do LTV de 85%. Para criar a proposta, são necessários o formulário de adesão e o certificado de domicílio fiscal.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jovens. Ele elimina a necessidade de entrada ao permitir financiamento de 100%, graças à garantia do Estado. Lembrem-se sempre de verificar os critérios de elegibilidade, especialmente os limites de rendimento e valor da transação. O sucesso da candidatura depende da correta apresentação da documentação em cada fase.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2500"/>
          </a:bodyPr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Compreender o que é o regime de Crédito Habitação Jovem.</a:t>
            </a:r>
          </a:p>
          <a:p>
            <a:pPr marL="285750" indent="-285750">
              <a:buFont typeface="Arial"/>
              <a:buChar char="•"/>
            </a:pPr>
            <a:r>
              <a:t>Identificar os critérios de elegibilidade para este crédito.</a:t>
            </a:r>
          </a:p>
          <a:p>
            <a:pPr marL="285750" indent="-285750">
              <a:buFont typeface="Arial"/>
              <a:buChar char="•"/>
            </a:pPr>
            <a:r>
              <a:t>Conhecer os procedimentos e documentação necessária para a candidatura.</a:t>
            </a:r>
          </a:p>
          <a:p>
            <a:pPr marL="285750" indent="-285750">
              <a:buFont typeface="Arial"/>
              <a:buChar char="•"/>
            </a:pPr>
            <a:r>
              <a:t>Saber como funciona a garantia do Estado neste regime.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O Que É o Crédito Habitação Jovem?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5000"/>
          </a:bodyPr>
          <a:lstStyle/>
          <a:p>
            <a:r>
              <a:t>Apresentar o regime de Crédito Habitação Jovem e os seus benefícios principais.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É um regime especial para jovens com idade de até 35 anos.</a:t>
            </a:r>
          </a:p>
          <a:p>
            <a:pPr marL="285750" indent="-285750">
              <a:buFont typeface="Arial"/>
              <a:buChar char="•"/>
            </a:pPr>
            <a:r>
              <a:t>Foi estabelecido pelo DL n.º 44/2024, de 10 de julho.</a:t>
            </a:r>
          </a:p>
          <a:p>
            <a:pPr marL="285750" indent="-285750">
              <a:buFont typeface="Arial"/>
              <a:buChar char="•"/>
            </a:pPr>
            <a:r>
              <a:t>Permite financiar até 100% do valor de compra, sem necessidade de entrada.</a:t>
            </a:r>
          </a:p>
          <a:p>
            <a:pPr marL="285750" indent="-285750">
              <a:buFont typeface="Arial"/>
              <a:buChar char="•"/>
            </a:pPr>
            <a:r>
              <a:t>O Estado Português atua como fiador, cobrindo a diferença do LTV (85%) para 100%.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Características Fundamentais do Regime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7500"/>
          </a:bodyPr>
          <a:lstStyle/>
          <a:p>
            <a:r>
              <a:t>Detalhar os requisitos que os candidatos devem cumprir para aceder ao crédito.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Requisitos Financeiros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Requisitos Pessoais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Idade entre 18 e 35 anos</a:t>
            </a:r>
          </a:p>
          <a:p>
            <a:r>
              <a:t>Domicílio fiscal em Portugal</a:t>
            </a:r>
          </a:p>
          <a:p>
            <a:r>
              <a:t>Não possuir propriedade anterior</a:t>
            </a:r>
          </a:p>
          <a:p>
            <a:r>
              <a:t>Não ter usado esta garantia do Estado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Rendimentos não exceder o 8.º escalão do IRS</a:t>
            </a:r>
          </a:p>
          <a:p>
            <a:r>
              <a:t>Limite individual: €80.000</a:t>
            </a:r>
          </a:p>
          <a:p>
            <a:r>
              <a:t>Limite para dois mutuários: até €160.000 (quociente familiar)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Benefícios Fiscais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Limites da Transação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Limites da Transação e Benefícios Fiscais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Valor máximo da transação: €450.000</a:t>
            </a:r>
          </a:p>
          <a:p>
            <a:r>
              <a:t>Destino: Primeira habitação própria permanente</a:t>
            </a:r>
          </a:p>
          <a:p>
            <a:r>
              <a:t>Garantia do Estado: Não excede 15% do valor da transação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Isenção de IMT e Imposto do Selo para imóveis até €330.539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72500"/>
          </a:bodyPr>
          <a:lstStyle/>
          <a:p>
            <a:r>
              <a:t>Entender as fases de avaliação e os documentos necessários para formalizar o pedido.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A avaliação ocorre em duas fases: Proposta de Risco e Enquadramento da Proposta.</a:t>
            </a:r>
          </a:p>
          <a:p>
            <a:pPr marL="285750" indent="-285750">
              <a:buFont typeface="Arial"/>
              <a:buChar char="•"/>
            </a:pPr>
            <a:r>
              <a:t>As cartas de recusa só são emitidas após a submissão à análise de risco.</a:t>
            </a:r>
          </a:p>
          <a:p>
            <a:pPr marL="285750" indent="-285750">
              <a:buFont typeface="Arial"/>
              <a:buChar char="•"/>
            </a:pPr>
            <a:r>
              <a:t>Para criar a proposta, são necessários formulário de adesão e certificado de domicílio fiscal.</a:t>
            </a:r>
          </a:p>
          <a:p>
            <a:pPr marL="285750" indent="-285750">
              <a:buFont typeface="Arial"/>
              <a:buChar char="•"/>
            </a:pPr>
            <a:r>
              <a:t>É obrigatória a declaração de IRS ou declarações de SS/pensionista.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de Avaliação e Documentos Iniciais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Para enquadrar a proposta, são necessários certificados do Registo e da Autoridade Tributária.</a:t>
            </a:r>
          </a:p>
          <a:p>
            <a:pPr marL="285750" indent="-285750">
              <a:buFont typeface="Arial"/>
              <a:buChar char="•"/>
            </a:pPr>
            <a:r>
              <a:t>Deve ser apresentado um documento que indique o valor de aquisição (ex: CPCV).</a:t>
            </a:r>
          </a:p>
          <a:p>
            <a:pPr marL="285750" indent="-285750">
              <a:buFont typeface="Arial"/>
              <a:buChar char="•"/>
            </a:pPr>
            <a:r>
              <a:t>A FAP formaliza a candidatura, incluindo dados do imóvel e autorização de crédito.</a:t>
            </a:r>
          </a:p>
          <a:p>
            <a:pPr marL="285750" indent="-285750">
              <a:buFont typeface="Arial"/>
              <a:buChar char="•"/>
            </a:pPr>
            <a:r>
              <a:t>O CTT Bank aderiu ao protocolo em 2 de outubro de 2024.</a:t>
            </a:r>
          </a:p>
          <a:p>
            <a:pPr marL="285750" indent="-285750">
              <a:buFont typeface="Arial"/>
              <a:buChar char="•"/>
            </a:pPr>
            <a:r>
              <a:t>As operações são precificadas no quadrante 65-85%.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Documentação para Enquadramento e Detalhes Operacionais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Casos Específicos: Estrangeiros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>
            <a:normAutofit fontScale="80000"/>
          </a:bodyPr>
          <a:lstStyle/>
          <a:p>
            <a:r>
              <a:t>Abordar as particularidades do regime para cidadãos estrangeiros.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É obrigatório possuir título de residência temporária há pelo menos 3 anos.</a:t>
            </a:r>
          </a:p>
          <a:p>
            <a:pPr marL="285750" indent="-285750">
              <a:buFont typeface="Arial"/>
              <a:buChar char="•"/>
            </a:pPr>
            <a:r>
              <a:t>Este título deve estar válido na data da análise do crédito.</a:t>
            </a:r>
          </a:p>
          <a:p>
            <a:pPr marL="285750" indent="-285750">
              <a:buFont typeface="Arial"/>
              <a:buChar char="•"/>
            </a:pPr>
            <a:r>
              <a:t>Renovações em processo não são aceites para a análise.</a:t>
            </a:r>
          </a:p>
          <a:p>
            <a:pPr marL="285750" indent="-285750">
              <a:buFont typeface="Arial"/>
              <a:buChar char="•"/>
            </a:pPr>
            <a:r>
              <a:t>A isenção de IMT e Imposto do Selo aplica-se a imóveis até €330.539.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Requisitos para Candidatos Estrangeiros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23" sz="quarter"/>
          </p:nvPr>
        </p:nvSpPr>
        <p:spPr/>
        <p:txBody>
          <a:bodyPr/>
          <a:lstStyle/>
          <a:p>
            <a:pPr marL="285750" indent="-285750">
              <a:buFont typeface="Arial"/>
              <a:buChar char="•"/>
            </a:pPr>
            <a:r>
              <a:t>Qual é o limite máximo de idade para aceder ao Crédito Habitação Jovem?</a:t>
            </a:r>
          </a:p>
          <a:p>
            <a:pPr marL="285750" indent="-285750">
              <a:buFont typeface="Arial"/>
              <a:buChar char="•"/>
            </a:pPr>
            <a:r>
              <a:t>Que percentagem do valor de aquisição pode ser financiada com a ajuda da garantia do Estado?</a:t>
            </a:r>
          </a:p>
          <a:p>
            <a:pPr marL="285750" indent="-285750">
              <a:buFont typeface="Arial"/>
              <a:buChar char="•"/>
            </a:pPr>
            <a:r>
              <a:t>Quais são os dois tipos de documentos necessários para a criação da proposta de crédito?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Verificação de Conhecimento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38" sz="quarter"/>
          </p:nvPr>
        </p:nvSpPr>
        <p:spPr/>
        <p:txBody>
          <a:bodyPr/>
          <a:lstStyle/>
          <a:p>
            <a:r>
              <a:t>Mecanismo e Requisitos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40" sz="quarter"/>
          </p:nvPr>
        </p:nvSpPr>
        <p:spPr/>
        <p:txBody>
          <a:bodyPr/>
          <a:lstStyle/>
          <a:p>
            <a:r>
              <a:t>Características do CH Jovem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Principais Pontos a Retenção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43" sz="quarter"/>
          </p:nvPr>
        </p:nvSpPr>
        <p:spPr/>
        <p:txBody>
          <a:bodyPr/>
          <a:lstStyle/>
          <a:p>
            <a:r>
              <a:t>Regime para jovens (até 35 anos)</a:t>
            </a:r>
          </a:p>
          <a:p>
            <a:r>
              <a:t>Financiamento de até 100% do imóvel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44" sz="quarter"/>
          </p:nvPr>
        </p:nvSpPr>
        <p:spPr/>
        <p:txBody>
          <a:bodyPr/>
          <a:lstStyle/>
          <a:p>
            <a:r>
              <a:t>Estado atua como fiador (cobre diferença LTV)</a:t>
            </a:r>
          </a:p>
          <a:p>
            <a:r>
              <a:t>Requisitos: idade, domicílio fiscal e limites de rendimento</a:t>
            </a:r>
          </a:p>
          <a:p>
            <a:r>
              <a:t>Processo exige documentação específica (Proposta e Enquadramento)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